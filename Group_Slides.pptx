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p:scale>
          <a:sx n="55" d="100"/>
          <a:sy n="55" d="100"/>
        </p:scale>
        <p:origin x="10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636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548640"/>
            <a:ext cx="5120640" cy="274320"/>
          </a:xfrm>
          <a:prstGeom prst="rect">
            <a:avLst/>
          </a:prstGeom>
          <a:noFill/>
          <a:ln/>
        </p:spPr>
        <p:txBody>
          <a:bodyPr wrap="square" lIns="0" tIns="0" rIns="0" bIns="0" rtlCol="0" anchor="ctr"/>
          <a:lstStyle/>
          <a:p>
            <a:pPr marL="0" indent="0">
              <a:buNone/>
            </a:pPr>
            <a:r>
              <a:rPr lang="en-US" sz="1250" b="1" kern="0" spc="200" dirty="0">
                <a:solidFill>
                  <a:srgbClr val="7C4A21"/>
                </a:solidFill>
                <a:latin typeface="Times New Roman" pitchFamily="34" charset="0"/>
                <a:ea typeface="Times New Roman" pitchFamily="34" charset="-122"/>
                <a:cs typeface="Times New Roman" pitchFamily="34" charset="-120"/>
              </a:rPr>
              <a:t>DSRH 2026   ·   GROUP 4</a:t>
            </a:r>
            <a:endParaRPr lang="en-US" sz="1250" dirty="0"/>
          </a:p>
        </p:txBody>
      </p:sp>
      <p:sp>
        <p:nvSpPr>
          <p:cNvPr id="3" name="Text 1"/>
          <p:cNvSpPr txBox="1"/>
          <p:nvPr/>
        </p:nvSpPr>
        <p:spPr>
          <a:xfrm>
            <a:off x="594360" y="960120"/>
            <a:ext cx="5029200" cy="1828800"/>
          </a:xfrm>
          <a:prstGeom prst="rect">
            <a:avLst/>
          </a:prstGeom>
          <a:noFill/>
          <a:ln/>
        </p:spPr>
        <p:txBody>
          <a:bodyPr wrap="square" lIns="0" tIns="0" rIns="0" bIns="0" rtlCol="0" anchor="ctr"/>
          <a:lstStyle/>
          <a:p>
            <a:pPr marL="0" indent="0">
              <a:lnSpc>
                <a:spcPts val="4100"/>
              </a:lnSpc>
              <a:buNone/>
            </a:pPr>
            <a:r>
              <a:rPr lang="en-US" sz="3400" b="1" dirty="0">
                <a:solidFill>
                  <a:srgbClr val="1F4E3D"/>
                </a:solidFill>
                <a:latin typeface="Times New Roman" pitchFamily="34" charset="0"/>
                <a:ea typeface="Times New Roman" pitchFamily="34" charset="-122"/>
                <a:cs typeface="Times New Roman" pitchFamily="34" charset="-120"/>
              </a:rPr>
              <a:t>Class locations transfer.</a:t>
            </a:r>
            <a:endParaRPr lang="en-US" sz="3400" dirty="0"/>
          </a:p>
          <a:p>
            <a:pPr marL="0" indent="0">
              <a:lnSpc>
                <a:spcPts val="4100"/>
              </a:lnSpc>
              <a:buNone/>
            </a:pPr>
            <a:r>
              <a:rPr lang="en-US" sz="3400" b="1" dirty="0">
                <a:solidFill>
                  <a:srgbClr val="1F4E3D"/>
                </a:solidFill>
                <a:latin typeface="Times New Roman" pitchFamily="34" charset="0"/>
                <a:ea typeface="Times New Roman" pitchFamily="34" charset="-122"/>
                <a:cs typeface="Times New Roman" pitchFamily="34" charset="-120"/>
              </a:rPr>
              <a:t>Class geometry does not.</a:t>
            </a:r>
            <a:endParaRPr lang="en-US" sz="3400" dirty="0"/>
          </a:p>
        </p:txBody>
      </p:sp>
      <p:sp>
        <p:nvSpPr>
          <p:cNvPr id="4" name="Text 2"/>
          <p:cNvSpPr txBox="1"/>
          <p:nvPr/>
        </p:nvSpPr>
        <p:spPr>
          <a:xfrm>
            <a:off x="594360" y="2926080"/>
            <a:ext cx="4937760" cy="822960"/>
          </a:xfrm>
          <a:prstGeom prst="rect">
            <a:avLst/>
          </a:prstGeom>
          <a:noFill/>
          <a:ln/>
        </p:spPr>
        <p:txBody>
          <a:bodyPr wrap="square" lIns="0" tIns="0" rIns="0" bIns="0" rtlCol="0" anchor="ctr"/>
          <a:lstStyle/>
          <a:p>
            <a:pPr marL="0" indent="0">
              <a:lnSpc>
                <a:spcPts val="2200"/>
              </a:lnSpc>
              <a:buNone/>
            </a:pPr>
            <a:r>
              <a:rPr lang="en-US" sz="1500" dirty="0">
                <a:solidFill>
                  <a:srgbClr val="44443E"/>
                </a:solidFill>
                <a:latin typeface="Times New Roman" pitchFamily="34" charset="0"/>
                <a:ea typeface="Times New Roman" pitchFamily="34" charset="-122"/>
                <a:cs typeface="Times New Roman" pitchFamily="34" charset="-120"/>
              </a:rPr>
              <a:t>Madrid to Amsterdam building-age transfer from 42 years of Landsat spectra.</a:t>
            </a:r>
            <a:endParaRPr lang="en-US" sz="1500" dirty="0"/>
          </a:p>
        </p:txBody>
      </p:sp>
      <p:sp>
        <p:nvSpPr>
          <p:cNvPr id="5" name="Text 3"/>
          <p:cNvSpPr txBox="1"/>
          <p:nvPr/>
        </p:nvSpPr>
        <p:spPr>
          <a:xfrm>
            <a:off x="594360" y="3931920"/>
            <a:ext cx="1600200" cy="548640"/>
          </a:xfrm>
          <a:prstGeom prst="rect">
            <a:avLst/>
          </a:prstGeom>
          <a:noFill/>
          <a:ln/>
        </p:spPr>
        <p:txBody>
          <a:bodyPr wrap="square" lIns="0" tIns="0" rIns="0" bIns="0" rtlCol="0" anchor="ctr"/>
          <a:lstStyle/>
          <a:p>
            <a:pPr marL="0" indent="0">
              <a:buNone/>
            </a:pPr>
            <a:r>
              <a:rPr lang="en-US" sz="2700" b="1" dirty="0">
                <a:solidFill>
                  <a:srgbClr val="1F4E3D"/>
                </a:solidFill>
                <a:latin typeface="Times New Roman" pitchFamily="34" charset="0"/>
                <a:ea typeface="Times New Roman" pitchFamily="34" charset="-122"/>
                <a:cs typeface="Times New Roman" pitchFamily="34" charset="-120"/>
              </a:rPr>
              <a:t>0.5954</a:t>
            </a:r>
            <a:endParaRPr lang="en-US" sz="2700" dirty="0"/>
          </a:p>
        </p:txBody>
      </p:sp>
      <p:sp>
        <p:nvSpPr>
          <p:cNvPr id="6" name="Text 4"/>
          <p:cNvSpPr txBox="1"/>
          <p:nvPr/>
        </p:nvSpPr>
        <p:spPr>
          <a:xfrm>
            <a:off x="2240280" y="3931920"/>
            <a:ext cx="3291840" cy="548640"/>
          </a:xfrm>
          <a:prstGeom prst="rect">
            <a:avLst/>
          </a:prstGeom>
          <a:noFill/>
          <a:ln/>
        </p:spPr>
        <p:txBody>
          <a:bodyPr wrap="square" lIns="0" tIns="0" rIns="0" bIns="0" rtlCol="0" anchor="ctr"/>
          <a:lstStyle/>
          <a:p>
            <a:pPr marL="0" indent="0">
              <a:buNone/>
            </a:pPr>
            <a:r>
              <a:rPr lang="en-US" sz="1300" dirty="0">
                <a:solidFill>
                  <a:srgbClr val="44443E"/>
                </a:solidFill>
                <a:latin typeface="Times New Roman" pitchFamily="34" charset="0"/>
                <a:ea typeface="Times New Roman" pitchFamily="34" charset="-122"/>
                <a:cs typeface="Times New Roman" pitchFamily="34" charset="-120"/>
              </a:rPr>
              <a:t>Madrid macro F1</a:t>
            </a:r>
            <a:endParaRPr lang="en-US" sz="1300" dirty="0"/>
          </a:p>
        </p:txBody>
      </p:sp>
      <p:sp>
        <p:nvSpPr>
          <p:cNvPr id="7" name="Text 5"/>
          <p:cNvSpPr txBox="1"/>
          <p:nvPr/>
        </p:nvSpPr>
        <p:spPr>
          <a:xfrm>
            <a:off x="594360" y="4773168"/>
            <a:ext cx="1600200" cy="548640"/>
          </a:xfrm>
          <a:prstGeom prst="rect">
            <a:avLst/>
          </a:prstGeom>
          <a:noFill/>
          <a:ln/>
        </p:spPr>
        <p:txBody>
          <a:bodyPr wrap="square" lIns="0" tIns="0" rIns="0" bIns="0" rtlCol="0" anchor="ctr"/>
          <a:lstStyle/>
          <a:p>
            <a:pPr marL="0" indent="0">
              <a:buNone/>
            </a:pPr>
            <a:r>
              <a:rPr lang="en-US" sz="2700" b="1" dirty="0">
                <a:solidFill>
                  <a:srgbClr val="1F4E3D"/>
                </a:solidFill>
                <a:latin typeface="Times New Roman" pitchFamily="34" charset="0"/>
                <a:ea typeface="Times New Roman" pitchFamily="34" charset="-122"/>
                <a:cs typeface="Times New Roman" pitchFamily="34" charset="-120"/>
              </a:rPr>
              <a:t>+0.113</a:t>
            </a:r>
            <a:endParaRPr lang="en-US" sz="2700" dirty="0"/>
          </a:p>
        </p:txBody>
      </p:sp>
      <p:sp>
        <p:nvSpPr>
          <p:cNvPr id="8" name="Text 6"/>
          <p:cNvSpPr txBox="1"/>
          <p:nvPr/>
        </p:nvSpPr>
        <p:spPr>
          <a:xfrm>
            <a:off x="2240280" y="4773168"/>
            <a:ext cx="3291840" cy="548640"/>
          </a:xfrm>
          <a:prstGeom prst="rect">
            <a:avLst/>
          </a:prstGeom>
          <a:noFill/>
          <a:ln/>
        </p:spPr>
        <p:txBody>
          <a:bodyPr wrap="square" lIns="0" tIns="0" rIns="0" bIns="0" rtlCol="0" anchor="ctr"/>
          <a:lstStyle/>
          <a:p>
            <a:pPr marL="0" indent="0">
              <a:buNone/>
            </a:pPr>
            <a:r>
              <a:rPr lang="en-US" sz="1300" dirty="0">
                <a:solidFill>
                  <a:srgbClr val="44443E"/>
                </a:solidFill>
                <a:latin typeface="Times New Roman" pitchFamily="34" charset="0"/>
                <a:ea typeface="Times New Roman" pitchFamily="34" charset="-122"/>
                <a:cs typeface="Times New Roman" pitchFamily="34" charset="-120"/>
              </a:rPr>
              <a:t>over the baseline zero-shot</a:t>
            </a:r>
            <a:endParaRPr lang="en-US" sz="1300" dirty="0"/>
          </a:p>
        </p:txBody>
      </p:sp>
      <p:sp>
        <p:nvSpPr>
          <p:cNvPr id="9" name="Text 7"/>
          <p:cNvSpPr txBox="1"/>
          <p:nvPr/>
        </p:nvSpPr>
        <p:spPr>
          <a:xfrm>
            <a:off x="594360" y="5614416"/>
            <a:ext cx="1600200" cy="548640"/>
          </a:xfrm>
          <a:prstGeom prst="rect">
            <a:avLst/>
          </a:prstGeom>
          <a:noFill/>
          <a:ln/>
        </p:spPr>
        <p:txBody>
          <a:bodyPr wrap="square" lIns="0" tIns="0" rIns="0" bIns="0" rtlCol="0" anchor="ctr"/>
          <a:lstStyle/>
          <a:p>
            <a:pPr marL="0" indent="0">
              <a:buNone/>
            </a:pPr>
            <a:r>
              <a:rPr lang="en-US" sz="2700" b="1" dirty="0">
                <a:solidFill>
                  <a:srgbClr val="7C4A21"/>
                </a:solidFill>
                <a:latin typeface="Times New Roman" pitchFamily="34" charset="0"/>
                <a:ea typeface="Times New Roman" pitchFamily="34" charset="-122"/>
                <a:cs typeface="Times New Roman" pitchFamily="34" charset="-120"/>
              </a:rPr>
              <a:t>+0.039</a:t>
            </a:r>
            <a:endParaRPr lang="en-US" sz="2700" dirty="0"/>
          </a:p>
        </p:txBody>
      </p:sp>
      <p:sp>
        <p:nvSpPr>
          <p:cNvPr id="10" name="Text 8"/>
          <p:cNvSpPr txBox="1"/>
          <p:nvPr/>
        </p:nvSpPr>
        <p:spPr>
          <a:xfrm>
            <a:off x="2240280" y="5614416"/>
            <a:ext cx="3291840" cy="548640"/>
          </a:xfrm>
          <a:prstGeom prst="rect">
            <a:avLst/>
          </a:prstGeom>
          <a:noFill/>
          <a:ln/>
        </p:spPr>
        <p:txBody>
          <a:bodyPr wrap="square" lIns="0" tIns="0" rIns="0" bIns="0" rtlCol="0" anchor="ctr"/>
          <a:lstStyle/>
          <a:p>
            <a:pPr marL="0" indent="0">
              <a:buNone/>
            </a:pPr>
            <a:r>
              <a:rPr lang="en-US" sz="1300" dirty="0">
                <a:solidFill>
                  <a:srgbClr val="44443E"/>
                </a:solidFill>
                <a:latin typeface="Times New Roman" pitchFamily="34" charset="0"/>
                <a:ea typeface="Times New Roman" pitchFamily="34" charset="-122"/>
                <a:cs typeface="Times New Roman" pitchFamily="34" charset="-120"/>
              </a:rPr>
              <a:t>over the baseline method,</a:t>
            </a:r>
            <a:endParaRPr lang="en-US" sz="1300" dirty="0"/>
          </a:p>
          <a:p>
            <a:pPr marL="0" indent="0">
              <a:buNone/>
            </a:pPr>
            <a:r>
              <a:rPr lang="en-US" sz="1300" dirty="0">
                <a:solidFill>
                  <a:srgbClr val="44443E"/>
                </a:solidFill>
                <a:latin typeface="Times New Roman" pitchFamily="34" charset="0"/>
                <a:ea typeface="Times New Roman" pitchFamily="34" charset="-122"/>
                <a:cs typeface="Times New Roman" pitchFamily="34" charset="-120"/>
              </a:rPr>
              <a:t>same harness</a:t>
            </a:r>
            <a:endParaRPr lang="en-US" sz="1300" dirty="0"/>
          </a:p>
        </p:txBody>
      </p:sp>
      <p:sp>
        <p:nvSpPr>
          <p:cNvPr id="11" name="Shape 9"/>
          <p:cNvSpPr/>
          <p:nvPr/>
        </p:nvSpPr>
        <p:spPr>
          <a:xfrm>
            <a:off x="5897880" y="548640"/>
            <a:ext cx="5742432" cy="5806440"/>
          </a:xfrm>
          <a:prstGeom prst="roundRect">
            <a:avLst>
              <a:gd name="adj" fmla="val 796"/>
            </a:avLst>
          </a:prstGeom>
          <a:solidFill>
            <a:srgbClr val="FFFFFF"/>
          </a:solidFill>
          <a:ln w="9525">
            <a:solidFill>
              <a:srgbClr val="DCDCD5"/>
            </a:solidFill>
            <a:prstDash val="solid"/>
          </a:ln>
        </p:spPr>
      </p:sp>
      <p:sp>
        <p:nvSpPr>
          <p:cNvPr id="12" name="Text 10"/>
          <p:cNvSpPr txBox="1"/>
          <p:nvPr/>
        </p:nvSpPr>
        <p:spPr>
          <a:xfrm>
            <a:off x="6263640" y="841248"/>
            <a:ext cx="502920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ABSTRACT</a:t>
            </a:r>
            <a:endParaRPr lang="en-US" sz="1250" dirty="0"/>
          </a:p>
        </p:txBody>
      </p:sp>
      <p:sp>
        <p:nvSpPr>
          <p:cNvPr id="13" name="Text 11"/>
          <p:cNvSpPr txBox="1"/>
          <p:nvPr/>
        </p:nvSpPr>
        <p:spPr>
          <a:xfrm>
            <a:off x="6263640" y="1207008"/>
            <a:ext cx="5010912" cy="4572000"/>
          </a:xfrm>
          <a:prstGeom prst="rect">
            <a:avLst/>
          </a:prstGeom>
          <a:noFill/>
          <a:ln/>
        </p:spPr>
        <p:txBody>
          <a:bodyPr wrap="square" lIns="0" tIns="0" rIns="0" bIns="0" rtlCol="0" anchor="t"/>
          <a:lstStyle/>
          <a:p>
            <a:pPr marL="0" indent="0">
              <a:lnSpc>
                <a:spcPts val="2200"/>
              </a:lnSpc>
              <a:buNone/>
            </a:pPr>
            <a:r>
              <a:rPr lang="en-US" sz="1500" dirty="0">
                <a:solidFill>
                  <a:srgbClr val="1C1C1A"/>
                </a:solidFill>
                <a:latin typeface="Times New Roman" pitchFamily="34" charset="0"/>
                <a:ea typeface="Times New Roman" pitchFamily="34" charset="-122"/>
                <a:cs typeface="Times New Roman" pitchFamily="34" charset="-120"/>
              </a:rPr>
              <a:t>We treat Madrid to Amsterdam building-age classification as a domain-adaptation problem rather than a classification problem. From 42 years of Landsat spectra we engineer 81 features, grouped in advance by expected transfer behaviour, and evaluate everything under spatially blocked splits that exclude the entire neighbourhood of every training location. Two results organise our method. Importing Madrid's class geometry — LDA directions, or a CNN's learned embedding — consistently harms transfer. Importing Madrid's class locations as a shrinkage prior on Amsterdam's few-shot prototypes consistently helps. The resulting model scores 0.5954 macro F1 on Madrid and 0.4553 zero-shot on Amsterdam, against baselines of 0.6179 and 0.3427, and beats the baseline transfer method at every label budget by +0.039 mean macro F1 under identical evaluation. A 1D-CNN reads Madrid better (0.6450) yet transfers worse at every budget, retaining 81.6% of its source performance against our 96.8%.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a:t>
            </a:r>
            <a:endParaRPr lang="en-US" sz="1600" dirty="0"/>
          </a:p>
        </p:txBody>
      </p:sp>
      <p:sp>
        <p:nvSpPr>
          <p:cNvPr id="4" name="Text 2"/>
          <p:cNvSpPr txBox="1"/>
          <p:nvPr/>
        </p:nvSpPr>
        <p:spPr>
          <a:xfrm>
            <a:off x="1103993"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The Problem</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040880" cy="2377440"/>
        </p:xfrm>
        <a:graphic>
          <a:graphicData uri="http://schemas.openxmlformats.org/drawingml/2006/table">
            <a:tbl>
              <a:tblPr/>
              <a:tblGrid>
                <a:gridCol w="2651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75488">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What we have</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Madrid</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Amsterdam</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extLst>
                  <a:ext uri="{0D108BD9-81ED-4DB2-BD59-A6C34878D82A}">
                    <a16:rowId xmlns:a16="http://schemas.microsoft.com/office/drawing/2014/main" val="10000"/>
                  </a:ext>
                </a:extLst>
              </a:tr>
              <a:tr h="475488">
                <a:tc>
                  <a:txBody>
                    <a:bodyPr/>
                    <a:lstStyle/>
                    <a:p>
                      <a:pPr marL="0" indent="0" algn="l">
                        <a:buNone/>
                      </a:pPr>
                      <a:r>
                        <a:rPr lang="en-US" sz="1200" b="1" dirty="0">
                          <a:solidFill>
                            <a:srgbClr val="1C1C1A"/>
                          </a:solidFill>
                          <a:latin typeface="Times New Roman" pitchFamily="34" charset="0"/>
                          <a:ea typeface="Times New Roman" pitchFamily="34" charset="-122"/>
                          <a:cs typeface="Times New Roman" pitchFamily="34" charset="-120"/>
                        </a:rPr>
                        <a:t>Locations</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76,263</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25,992</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b="1" dirty="0">
                          <a:solidFill>
                            <a:srgbClr val="1C1C1A"/>
                          </a:solidFill>
                          <a:latin typeface="Times New Roman" pitchFamily="34" charset="0"/>
                          <a:ea typeface="Times New Roman" pitchFamily="34" charset="-122"/>
                          <a:cs typeface="Times New Roman" pitchFamily="34" charset="-120"/>
                        </a:rPr>
                        <a:t>Yearly records</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3,172,765</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1,062,877</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200" b="1" dirty="0">
                          <a:solidFill>
                            <a:srgbClr val="1C1C1A"/>
                          </a:solidFill>
                          <a:latin typeface="Times New Roman" pitchFamily="34" charset="0"/>
                          <a:ea typeface="Times New Roman" pitchFamily="34" charset="-122"/>
                          <a:cs typeface="Times New Roman" pitchFamily="34" charset="-120"/>
                        </a:rPr>
                        <a:t>Class boundaries</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1960 / 1984 / 2004</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1945 / 1984 / 2004</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00" b="1" dirty="0">
                          <a:solidFill>
                            <a:srgbClr val="1C1C1A"/>
                          </a:solidFill>
                          <a:latin typeface="Times New Roman" pitchFamily="34" charset="0"/>
                          <a:ea typeface="Times New Roman" pitchFamily="34" charset="-122"/>
                          <a:cs typeface="Times New Roman" pitchFamily="34" charset="-120"/>
                        </a:rPr>
                        <a:t>Role</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C4A21"/>
                          </a:solidFill>
                          <a:latin typeface="Times New Roman" pitchFamily="34" charset="0"/>
                          <a:ea typeface="Times New Roman" pitchFamily="34" charset="-122"/>
                          <a:cs typeface="Times New Roman" pitchFamily="34" charset="-120"/>
                        </a:rPr>
                        <a:t>Source city</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4E3D"/>
                          </a:solidFill>
                          <a:latin typeface="Times New Roman" pitchFamily="34" charset="0"/>
                          <a:ea typeface="Times New Roman" pitchFamily="34" charset="-122"/>
                          <a:cs typeface="Times New Roman" pitchFamily="34" charset="-120"/>
                        </a:rPr>
                        <a:t>Adaptation city</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7863840" y="1554480"/>
            <a:ext cx="3776472" cy="2377440"/>
          </a:xfrm>
          <a:prstGeom prst="roundRect">
            <a:avLst>
              <a:gd name="adj" fmla="val 1923"/>
            </a:avLst>
          </a:prstGeom>
          <a:solidFill>
            <a:srgbClr val="EBF2EF"/>
          </a:solidFill>
          <a:ln w="9525">
            <a:solidFill>
              <a:srgbClr val="EBF2EF"/>
            </a:solidFill>
            <a:prstDash val="solid"/>
          </a:ln>
        </p:spPr>
      </p:sp>
      <p:sp>
        <p:nvSpPr>
          <p:cNvPr id="8" name="Text 5"/>
          <p:cNvSpPr txBox="1"/>
          <p:nvPr/>
        </p:nvSpPr>
        <p:spPr>
          <a:xfrm>
            <a:off x="8183880" y="1773936"/>
            <a:ext cx="320040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THE REAL QUESTION</a:t>
            </a:r>
            <a:endParaRPr lang="en-US" sz="1250" dirty="0"/>
          </a:p>
        </p:txBody>
      </p:sp>
      <p:sp>
        <p:nvSpPr>
          <p:cNvPr id="9" name="Text 6"/>
          <p:cNvSpPr txBox="1"/>
          <p:nvPr/>
        </p:nvSpPr>
        <p:spPr>
          <a:xfrm>
            <a:off x="8183880" y="2139696"/>
            <a:ext cx="3200400" cy="1645920"/>
          </a:xfrm>
          <a:prstGeom prst="rect">
            <a:avLst/>
          </a:prstGeom>
          <a:noFill/>
          <a:ln/>
        </p:spPr>
        <p:txBody>
          <a:bodyPr wrap="square" lIns="0" tIns="0" rIns="0" bIns="0" rtlCol="0" anchor="ctr"/>
          <a:lstStyle/>
          <a:p>
            <a:pPr marL="0" indent="0">
              <a:lnSpc>
                <a:spcPts val="1800"/>
              </a:lnSpc>
              <a:buNone/>
            </a:pPr>
            <a:r>
              <a:rPr lang="en-US" sz="1300" dirty="0">
                <a:solidFill>
                  <a:srgbClr val="44443E"/>
                </a:solidFill>
                <a:latin typeface="Times New Roman" pitchFamily="34" charset="0"/>
                <a:ea typeface="Times New Roman" pitchFamily="34" charset="-122"/>
                <a:cs typeface="Times New Roman" pitchFamily="34" charset="-120"/>
              </a:rPr>
              <a:t>Not “can you classify building age” — Madrid alone answers that. It is whether the representation you learned on one city is about age, or about that city.</a:t>
            </a:r>
            <a:endParaRPr lang="en-US" sz="1300" dirty="0"/>
          </a:p>
        </p:txBody>
      </p:sp>
      <p:sp>
        <p:nvSpPr>
          <p:cNvPr id="10" name="Shape 7"/>
          <p:cNvSpPr/>
          <p:nvPr/>
        </p:nvSpPr>
        <p:spPr>
          <a:xfrm>
            <a:off x="548640" y="4160520"/>
            <a:ext cx="3529584" cy="1691640"/>
          </a:xfrm>
          <a:prstGeom prst="roundRect">
            <a:avLst>
              <a:gd name="adj" fmla="val 2703"/>
            </a:avLst>
          </a:prstGeom>
          <a:solidFill>
            <a:srgbClr val="F5F5F2"/>
          </a:solidFill>
          <a:ln w="9525">
            <a:solidFill>
              <a:srgbClr val="F5F5F2"/>
            </a:solidFill>
            <a:prstDash val="solid"/>
          </a:ln>
        </p:spPr>
      </p:sp>
      <p:sp>
        <p:nvSpPr>
          <p:cNvPr id="11" name="Text 8"/>
          <p:cNvSpPr txBox="1"/>
          <p:nvPr/>
        </p:nvSpPr>
        <p:spPr>
          <a:xfrm>
            <a:off x="850392" y="4315968"/>
            <a:ext cx="2926080" cy="347472"/>
          </a:xfrm>
          <a:prstGeom prst="rect">
            <a:avLst/>
          </a:prstGeom>
          <a:noFill/>
          <a:ln/>
        </p:spPr>
        <p:txBody>
          <a:bodyPr wrap="square" lIns="0" tIns="0" rIns="0" bIns="0" rtlCol="0" anchor="ctr"/>
          <a:lstStyle/>
          <a:p>
            <a:pPr marL="0" indent="0">
              <a:buNone/>
            </a:pPr>
            <a:r>
              <a:rPr lang="en-US" sz="1550" b="1" dirty="0">
                <a:solidFill>
                  <a:srgbClr val="1F4E3D"/>
                </a:solidFill>
                <a:latin typeface="Times New Roman" pitchFamily="34" charset="0"/>
                <a:ea typeface="Times New Roman" pitchFamily="34" charset="-122"/>
                <a:cs typeface="Times New Roman" pitchFamily="34" charset="-120"/>
              </a:rPr>
              <a:t>Different light</a:t>
            </a:r>
            <a:endParaRPr lang="en-US" sz="1550" dirty="0"/>
          </a:p>
        </p:txBody>
      </p:sp>
      <p:sp>
        <p:nvSpPr>
          <p:cNvPr id="12" name="Text 9"/>
          <p:cNvSpPr txBox="1"/>
          <p:nvPr/>
        </p:nvSpPr>
        <p:spPr>
          <a:xfrm>
            <a:off x="850392" y="4700016"/>
            <a:ext cx="2926080" cy="100584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Latitude, atmosphere and sensor era shift every band's absolute value.</a:t>
            </a:r>
            <a:endParaRPr lang="en-US" sz="1250" dirty="0"/>
          </a:p>
        </p:txBody>
      </p:sp>
      <p:sp>
        <p:nvSpPr>
          <p:cNvPr id="13" name="Shape 10"/>
          <p:cNvSpPr/>
          <p:nvPr/>
        </p:nvSpPr>
        <p:spPr>
          <a:xfrm>
            <a:off x="4325112" y="4160520"/>
            <a:ext cx="3529584" cy="1691640"/>
          </a:xfrm>
          <a:prstGeom prst="roundRect">
            <a:avLst>
              <a:gd name="adj" fmla="val 2703"/>
            </a:avLst>
          </a:prstGeom>
          <a:solidFill>
            <a:srgbClr val="F7F0E7"/>
          </a:solidFill>
          <a:ln w="9525">
            <a:solidFill>
              <a:srgbClr val="F7F0E7"/>
            </a:solidFill>
            <a:prstDash val="solid"/>
          </a:ln>
        </p:spPr>
      </p:sp>
      <p:sp>
        <p:nvSpPr>
          <p:cNvPr id="14" name="Text 11"/>
          <p:cNvSpPr txBox="1"/>
          <p:nvPr/>
        </p:nvSpPr>
        <p:spPr>
          <a:xfrm>
            <a:off x="4626864" y="4315968"/>
            <a:ext cx="2926080" cy="347472"/>
          </a:xfrm>
          <a:prstGeom prst="rect">
            <a:avLst/>
          </a:prstGeom>
          <a:noFill/>
          <a:ln/>
        </p:spPr>
        <p:txBody>
          <a:bodyPr wrap="square" lIns="0" tIns="0" rIns="0" bIns="0" rtlCol="0" anchor="ctr"/>
          <a:lstStyle/>
          <a:p>
            <a:pPr marL="0" indent="0">
              <a:buNone/>
            </a:pPr>
            <a:r>
              <a:rPr lang="en-US" sz="1550" b="1" dirty="0">
                <a:solidFill>
                  <a:srgbClr val="7C4A21"/>
                </a:solidFill>
                <a:latin typeface="Times New Roman" pitchFamily="34" charset="0"/>
                <a:ea typeface="Times New Roman" pitchFamily="34" charset="-122"/>
                <a:cs typeface="Times New Roman" pitchFamily="34" charset="-120"/>
              </a:rPr>
              <a:t>Different buildings</a:t>
            </a:r>
            <a:endParaRPr lang="en-US" sz="1550" dirty="0"/>
          </a:p>
        </p:txBody>
      </p:sp>
      <p:sp>
        <p:nvSpPr>
          <p:cNvPr id="15" name="Text 12"/>
          <p:cNvSpPr txBox="1"/>
          <p:nvPr/>
        </p:nvSpPr>
        <p:spPr>
          <a:xfrm>
            <a:off x="4626864" y="4700016"/>
            <a:ext cx="2926080" cy="100584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Brick and stone against concrete and stucco.</a:t>
            </a:r>
            <a:endParaRPr lang="en-US" sz="1250" dirty="0"/>
          </a:p>
        </p:txBody>
      </p:sp>
      <p:sp>
        <p:nvSpPr>
          <p:cNvPr id="16" name="Shape 13"/>
          <p:cNvSpPr/>
          <p:nvPr/>
        </p:nvSpPr>
        <p:spPr>
          <a:xfrm>
            <a:off x="8101584" y="4160520"/>
            <a:ext cx="3529584" cy="1691640"/>
          </a:xfrm>
          <a:prstGeom prst="roundRect">
            <a:avLst>
              <a:gd name="adj" fmla="val 2703"/>
            </a:avLst>
          </a:prstGeom>
          <a:solidFill>
            <a:srgbClr val="F5F5F2"/>
          </a:solidFill>
          <a:ln w="9525">
            <a:solidFill>
              <a:srgbClr val="F5F5F2"/>
            </a:solidFill>
            <a:prstDash val="solid"/>
          </a:ln>
        </p:spPr>
      </p:sp>
      <p:sp>
        <p:nvSpPr>
          <p:cNvPr id="17" name="Text 14"/>
          <p:cNvSpPr txBox="1"/>
          <p:nvPr/>
        </p:nvSpPr>
        <p:spPr>
          <a:xfrm>
            <a:off x="8403336" y="4315968"/>
            <a:ext cx="2926080" cy="347472"/>
          </a:xfrm>
          <a:prstGeom prst="rect">
            <a:avLst/>
          </a:prstGeom>
          <a:noFill/>
          <a:ln/>
        </p:spPr>
        <p:txBody>
          <a:bodyPr wrap="square" lIns="0" tIns="0" rIns="0" bIns="0" rtlCol="0" anchor="ctr"/>
          <a:lstStyle/>
          <a:p>
            <a:pPr marL="0" indent="0">
              <a:buNone/>
            </a:pPr>
            <a:r>
              <a:rPr lang="en-US" sz="1550" b="1" dirty="0">
                <a:solidFill>
                  <a:srgbClr val="1F4E3D"/>
                </a:solidFill>
                <a:latin typeface="Times New Roman" pitchFamily="34" charset="0"/>
                <a:ea typeface="Times New Roman" pitchFamily="34" charset="-122"/>
                <a:cs typeface="Times New Roman" pitchFamily="34" charset="-120"/>
              </a:rPr>
              <a:t>Different history</a:t>
            </a:r>
            <a:endParaRPr lang="en-US" sz="1550" dirty="0"/>
          </a:p>
        </p:txBody>
      </p:sp>
      <p:sp>
        <p:nvSpPr>
          <p:cNvPr id="18" name="Text 15"/>
          <p:cNvSpPr txBox="1"/>
          <p:nvPr/>
        </p:nvSpPr>
        <p:spPr>
          <a:xfrm>
            <a:off x="8403336" y="4700016"/>
            <a:ext cx="2926080" cy="100584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Amsterdam's oldest class starts in 1882, Madrid's in 1960.</a:t>
            </a:r>
            <a:endParaRPr lang="en-US" sz="1250" dirty="0"/>
          </a:p>
        </p:txBody>
      </p:sp>
      <p:sp>
        <p:nvSpPr>
          <p:cNvPr id="19" name="Text 16"/>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Six bands on a common 42-year grid, 1984–2025. We grouped records by location, checked duplicates, and saved one age label per pixel.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2</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Data Cleaning</a:t>
            </a:r>
            <a:endParaRPr lang="en-US" sz="2800" dirty="0"/>
          </a:p>
        </p:txBody>
      </p:sp>
      <p:pic>
        <p:nvPicPr>
          <p:cNvPr id="6" name="Image 0" descr="/home/claude/deck_assets/fig_cleaning.png"/>
          <p:cNvPicPr>
            <a:picLocks noChangeAspect="1"/>
          </p:cNvPicPr>
          <p:nvPr/>
        </p:nvPicPr>
        <p:blipFill>
          <a:blip r:embed="rId3"/>
          <a:stretch>
            <a:fillRect/>
          </a:stretch>
        </p:blipFill>
        <p:spPr>
          <a:xfrm>
            <a:off x="548640" y="1554480"/>
            <a:ext cx="6675120" cy="3977640"/>
          </a:xfrm>
          <a:prstGeom prst="rect">
            <a:avLst/>
          </a:prstGeom>
        </p:spPr>
      </p:pic>
      <p:sp>
        <p:nvSpPr>
          <p:cNvPr id="7" name="Shape 4"/>
          <p:cNvSpPr/>
          <p:nvPr/>
        </p:nvSpPr>
        <p:spPr>
          <a:xfrm>
            <a:off x="7543800" y="1554480"/>
            <a:ext cx="4096512" cy="1325880"/>
          </a:xfrm>
          <a:prstGeom prst="roundRect">
            <a:avLst>
              <a:gd name="adj" fmla="val 3448"/>
            </a:avLst>
          </a:prstGeom>
          <a:solidFill>
            <a:srgbClr val="F5F5F2"/>
          </a:solidFill>
          <a:ln w="9525">
            <a:solidFill>
              <a:srgbClr val="F5F5F2"/>
            </a:solidFill>
            <a:prstDash val="solid"/>
          </a:ln>
        </p:spPr>
      </p:sp>
      <p:sp>
        <p:nvSpPr>
          <p:cNvPr id="8" name="Text 5"/>
          <p:cNvSpPr txBox="1"/>
          <p:nvPr/>
        </p:nvSpPr>
        <p:spPr>
          <a:xfrm>
            <a:off x="7845552" y="1655064"/>
            <a:ext cx="3520440" cy="457200"/>
          </a:xfrm>
          <a:prstGeom prst="rect">
            <a:avLst/>
          </a:prstGeom>
          <a:noFill/>
          <a:ln/>
        </p:spPr>
        <p:txBody>
          <a:bodyPr wrap="square" lIns="0" tIns="0" rIns="0" bIns="0" rtlCol="0" anchor="ctr"/>
          <a:lstStyle/>
          <a:p>
            <a:pPr marL="0" indent="0">
              <a:lnSpc>
                <a:spcPts val="1700"/>
              </a:lnSpc>
              <a:buNone/>
            </a:pPr>
            <a:r>
              <a:rPr lang="en-US" sz="1400" b="1" dirty="0">
                <a:solidFill>
                  <a:srgbClr val="1C1C1A"/>
                </a:solidFill>
                <a:latin typeface="Times New Roman" pitchFamily="34" charset="0"/>
                <a:ea typeface="Times New Roman" pitchFamily="34" charset="-122"/>
                <a:cs typeface="Times New Roman" pitchFamily="34" charset="-120"/>
              </a:rPr>
              <a:t>Where you clean matters more than that you clean</a:t>
            </a:r>
            <a:endParaRPr lang="en-US" sz="1400" dirty="0"/>
          </a:p>
        </p:txBody>
      </p:sp>
      <p:sp>
        <p:nvSpPr>
          <p:cNvPr id="9" name="Text 6"/>
          <p:cNvSpPr txBox="1"/>
          <p:nvPr/>
        </p:nvSpPr>
        <p:spPr>
          <a:xfrm>
            <a:off x="7845552" y="2157984"/>
            <a:ext cx="3520440" cy="658368"/>
          </a:xfrm>
          <a:prstGeom prst="rect">
            <a:avLst/>
          </a:prstGeom>
          <a:noFill/>
          <a:ln/>
        </p:spPr>
        <p:txBody>
          <a:bodyPr wrap="square" lIns="0" tIns="0" rIns="0" bIns="0" rtlCol="0" anchor="ctr"/>
          <a:lstStyle/>
          <a:p>
            <a:pPr marL="0" indent="0">
              <a:lnSpc>
                <a:spcPts val="1600"/>
              </a:lnSpc>
              <a:buNone/>
            </a:pPr>
            <a:r>
              <a:rPr lang="en-US" sz="1200" dirty="0">
                <a:solidFill>
                  <a:srgbClr val="44443E"/>
                </a:solidFill>
                <a:latin typeface="Times New Roman" pitchFamily="34" charset="0"/>
                <a:ea typeface="Times New Roman" pitchFamily="34" charset="-122"/>
                <a:cs typeface="Times New Roman" pitchFamily="34" charset="-120"/>
              </a:rPr>
              <a:t>Bad readings rejected at the individual observation slot, before any yearly average. Clean after averaging and the bad reading is already in the mean.</a:t>
            </a:r>
            <a:endParaRPr lang="en-US" sz="1200" dirty="0"/>
          </a:p>
        </p:txBody>
      </p:sp>
      <p:sp>
        <p:nvSpPr>
          <p:cNvPr id="10" name="Shape 7"/>
          <p:cNvSpPr/>
          <p:nvPr/>
        </p:nvSpPr>
        <p:spPr>
          <a:xfrm>
            <a:off x="7543800" y="3017520"/>
            <a:ext cx="4096512" cy="1325880"/>
          </a:xfrm>
          <a:prstGeom prst="roundRect">
            <a:avLst>
              <a:gd name="adj" fmla="val 3448"/>
            </a:avLst>
          </a:prstGeom>
          <a:solidFill>
            <a:srgbClr val="F5F5F2"/>
          </a:solidFill>
          <a:ln w="9525">
            <a:solidFill>
              <a:srgbClr val="F5F5F2"/>
            </a:solidFill>
            <a:prstDash val="solid"/>
          </a:ln>
        </p:spPr>
      </p:sp>
      <p:sp>
        <p:nvSpPr>
          <p:cNvPr id="11" name="Text 8"/>
          <p:cNvSpPr txBox="1"/>
          <p:nvPr/>
        </p:nvSpPr>
        <p:spPr>
          <a:xfrm>
            <a:off x="7845552" y="3118104"/>
            <a:ext cx="3520440" cy="457200"/>
          </a:xfrm>
          <a:prstGeom prst="rect">
            <a:avLst/>
          </a:prstGeom>
          <a:noFill/>
          <a:ln/>
        </p:spPr>
        <p:txBody>
          <a:bodyPr wrap="square" lIns="0" tIns="0" rIns="0" bIns="0" rtlCol="0" anchor="ctr"/>
          <a:lstStyle/>
          <a:p>
            <a:pPr marL="0" indent="0">
              <a:lnSpc>
                <a:spcPts val="1700"/>
              </a:lnSpc>
              <a:buNone/>
            </a:pPr>
            <a:r>
              <a:rPr lang="en-US" sz="1400" b="1" dirty="0">
                <a:solidFill>
                  <a:srgbClr val="1C1C1A"/>
                </a:solidFill>
                <a:latin typeface="Times New Roman" pitchFamily="34" charset="0"/>
                <a:ea typeface="Times New Roman" pitchFamily="34" charset="-122"/>
                <a:cs typeface="Times New Roman" pitchFamily="34" charset="-120"/>
              </a:rPr>
              <a:t>Scene contamination is a different failure mode</a:t>
            </a:r>
            <a:endParaRPr lang="en-US" sz="1400" dirty="0"/>
          </a:p>
        </p:txBody>
      </p:sp>
      <p:sp>
        <p:nvSpPr>
          <p:cNvPr id="12" name="Text 9"/>
          <p:cNvSpPr txBox="1"/>
          <p:nvPr/>
        </p:nvSpPr>
        <p:spPr>
          <a:xfrm>
            <a:off x="7845552" y="3621024"/>
            <a:ext cx="3520440" cy="658368"/>
          </a:xfrm>
          <a:prstGeom prst="rect">
            <a:avLst/>
          </a:prstGeom>
          <a:noFill/>
          <a:ln/>
        </p:spPr>
        <p:txBody>
          <a:bodyPr wrap="square" lIns="0" tIns="0" rIns="0" bIns="0" rtlCol="0" anchor="ctr"/>
          <a:lstStyle/>
          <a:p>
            <a:pPr marL="0" indent="0">
              <a:lnSpc>
                <a:spcPts val="1600"/>
              </a:lnSpc>
              <a:buNone/>
            </a:pPr>
            <a:r>
              <a:rPr lang="en-US" sz="1200" dirty="0">
                <a:solidFill>
                  <a:srgbClr val="44443E"/>
                </a:solidFill>
                <a:latin typeface="Times New Roman" pitchFamily="34" charset="0"/>
                <a:ea typeface="Times New Roman" pitchFamily="34" charset="-122"/>
                <a:cs typeface="Times New Roman" pitchFamily="34" charset="-120"/>
              </a:rPr>
              <a:t>A bad scene shifts thousands of locations the same way in the same year. 1998, 2008 and 2002 were the worst.</a:t>
            </a:r>
            <a:endParaRPr lang="en-US" sz="1200" dirty="0"/>
          </a:p>
        </p:txBody>
      </p:sp>
      <p:sp>
        <p:nvSpPr>
          <p:cNvPr id="13" name="Shape 10"/>
          <p:cNvSpPr/>
          <p:nvPr/>
        </p:nvSpPr>
        <p:spPr>
          <a:xfrm>
            <a:off x="7543800" y="4480560"/>
            <a:ext cx="4096512" cy="1325880"/>
          </a:xfrm>
          <a:prstGeom prst="roundRect">
            <a:avLst>
              <a:gd name="adj" fmla="val 3448"/>
            </a:avLst>
          </a:prstGeom>
          <a:solidFill>
            <a:srgbClr val="EBF2EF"/>
          </a:solidFill>
          <a:ln w="9525">
            <a:solidFill>
              <a:srgbClr val="EBF2EF"/>
            </a:solidFill>
            <a:prstDash val="solid"/>
          </a:ln>
        </p:spPr>
      </p:sp>
      <p:sp>
        <p:nvSpPr>
          <p:cNvPr id="14" name="Text 11"/>
          <p:cNvSpPr txBox="1"/>
          <p:nvPr/>
        </p:nvSpPr>
        <p:spPr>
          <a:xfrm>
            <a:off x="7845552" y="4581144"/>
            <a:ext cx="3520440" cy="457200"/>
          </a:xfrm>
          <a:prstGeom prst="rect">
            <a:avLst/>
          </a:prstGeom>
          <a:noFill/>
          <a:ln/>
        </p:spPr>
        <p:txBody>
          <a:bodyPr wrap="square" lIns="0" tIns="0" rIns="0" bIns="0" rtlCol="0" anchor="ctr"/>
          <a:lstStyle/>
          <a:p>
            <a:pPr marL="0" indent="0">
              <a:lnSpc>
                <a:spcPts val="1700"/>
              </a:lnSpc>
              <a:buNone/>
            </a:pPr>
            <a:r>
              <a:rPr lang="en-US" sz="1400" b="1" dirty="0">
                <a:solidFill>
                  <a:srgbClr val="1F4E3D"/>
                </a:solidFill>
                <a:latin typeface="Times New Roman" pitchFamily="34" charset="0"/>
                <a:ea typeface="Times New Roman" pitchFamily="34" charset="-122"/>
                <a:cs typeface="Times New Roman" pitchFamily="34" charset="-120"/>
              </a:rPr>
              <a:t>And it is measurable</a:t>
            </a:r>
            <a:endParaRPr lang="en-US" sz="1400" dirty="0"/>
          </a:p>
        </p:txBody>
      </p:sp>
      <p:sp>
        <p:nvSpPr>
          <p:cNvPr id="15" name="Text 12"/>
          <p:cNvSpPr txBox="1"/>
          <p:nvPr/>
        </p:nvSpPr>
        <p:spPr>
          <a:xfrm>
            <a:off x="7845552" y="5084064"/>
            <a:ext cx="3520440" cy="658368"/>
          </a:xfrm>
          <a:prstGeom prst="rect">
            <a:avLst/>
          </a:prstGeom>
          <a:noFill/>
          <a:ln/>
        </p:spPr>
        <p:txBody>
          <a:bodyPr wrap="square" lIns="0" tIns="0" rIns="0" bIns="0" rtlCol="0" anchor="ctr"/>
          <a:lstStyle/>
          <a:p>
            <a:pPr marL="0" indent="0">
              <a:lnSpc>
                <a:spcPts val="1600"/>
              </a:lnSpc>
              <a:buNone/>
            </a:pPr>
            <a:r>
              <a:rPr lang="en-US" sz="1200" dirty="0">
                <a:solidFill>
                  <a:srgbClr val="44443E"/>
                </a:solidFill>
                <a:latin typeface="Times New Roman" pitchFamily="34" charset="0"/>
                <a:ea typeface="Times New Roman" pitchFamily="34" charset="-122"/>
                <a:cs typeface="Times New Roman" pitchFamily="34" charset="-120"/>
              </a:rPr>
              <a:t>The Amsterdam-to-Madrid volatility ratio fell from 1.50x to 1.39x, and all four class lines still rise. The age signal survived.</a:t>
            </a:r>
            <a:endParaRPr lang="en-US" sz="1200" dirty="0"/>
          </a:p>
        </p:txBody>
      </p:sp>
      <p:sp>
        <p:nvSpPr>
          <p:cNvPr id="16" name="Text 13"/>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19,025 / 28,906 rejected readings and 48,447 / 41,318 masked spikes, Madrid / Amsterdam. No complete years removed; interior gaps filled by linear interpolation.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3</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The Class Distribution</a:t>
            </a:r>
            <a:endParaRPr lang="en-US" sz="2800" dirty="0"/>
          </a:p>
        </p:txBody>
      </p:sp>
      <p:pic>
        <p:nvPicPr>
          <p:cNvPr id="6" name="Image 0" descr="/home/claude/deck_assets/g4_fig1_years.png"/>
          <p:cNvPicPr>
            <a:picLocks noChangeAspect="1"/>
          </p:cNvPicPr>
          <p:nvPr/>
        </p:nvPicPr>
        <p:blipFill>
          <a:blip r:embed="rId3"/>
          <a:stretch>
            <a:fillRect/>
          </a:stretch>
        </p:blipFill>
        <p:spPr>
          <a:xfrm>
            <a:off x="1051560" y="1371600"/>
            <a:ext cx="10058400" cy="46725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4</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Some features describe the city, not the building</a:t>
            </a:r>
            <a:endParaRPr lang="en-US" sz="2800" dirty="0"/>
          </a:p>
        </p:txBody>
      </p:sp>
      <p:pic>
        <p:nvPicPr>
          <p:cNvPr id="6" name="Image 0" descr="/home/claude/deck_assets/g4_fig4_domainshift.png"/>
          <p:cNvPicPr>
            <a:picLocks noChangeAspect="1"/>
          </p:cNvPicPr>
          <p:nvPr/>
        </p:nvPicPr>
        <p:blipFill>
          <a:blip r:embed="rId3"/>
          <a:stretch>
            <a:fillRect/>
          </a:stretch>
        </p:blipFill>
        <p:spPr>
          <a:xfrm>
            <a:off x="548640" y="1554480"/>
            <a:ext cx="7680960" cy="3566160"/>
          </a:xfrm>
          <a:prstGeom prst="rect">
            <a:avLst/>
          </a:prstGeom>
        </p:spPr>
      </p:pic>
      <p:sp>
        <p:nvSpPr>
          <p:cNvPr id="7" name="Shape 4"/>
          <p:cNvSpPr/>
          <p:nvPr/>
        </p:nvSpPr>
        <p:spPr>
          <a:xfrm>
            <a:off x="8549640" y="1554480"/>
            <a:ext cx="3090672" cy="1691640"/>
          </a:xfrm>
          <a:prstGeom prst="roundRect">
            <a:avLst>
              <a:gd name="adj" fmla="val 2703"/>
            </a:avLst>
          </a:prstGeom>
          <a:solidFill>
            <a:srgbClr val="F7F0E7"/>
          </a:solidFill>
          <a:ln w="9525">
            <a:solidFill>
              <a:srgbClr val="F7F0E7"/>
            </a:solidFill>
            <a:prstDash val="solid"/>
          </a:ln>
        </p:spPr>
      </p:sp>
      <p:sp>
        <p:nvSpPr>
          <p:cNvPr id="8" name="Text 5"/>
          <p:cNvSpPr txBox="1"/>
          <p:nvPr/>
        </p:nvSpPr>
        <p:spPr>
          <a:xfrm>
            <a:off x="8823960" y="1737360"/>
            <a:ext cx="2560320" cy="310896"/>
          </a:xfrm>
          <a:prstGeom prst="rect">
            <a:avLst/>
          </a:prstGeom>
          <a:noFill/>
          <a:ln/>
        </p:spPr>
        <p:txBody>
          <a:bodyPr wrap="square" lIns="0" tIns="0" rIns="0" bIns="0" rtlCol="0" anchor="ctr"/>
          <a:lstStyle/>
          <a:p>
            <a:pPr marL="0" indent="0">
              <a:buNone/>
            </a:pPr>
            <a:r>
              <a:rPr lang="en-US" sz="1400" b="1" dirty="0">
                <a:solidFill>
                  <a:srgbClr val="7C4A21"/>
                </a:solidFill>
                <a:latin typeface="Times New Roman" pitchFamily="34" charset="0"/>
                <a:ea typeface="Times New Roman" pitchFamily="34" charset="-122"/>
                <a:cs typeface="Times New Roman" pitchFamily="34" charset="-120"/>
              </a:rPr>
              <a:t>The trap</a:t>
            </a:r>
            <a:endParaRPr lang="en-US" sz="1400" dirty="0"/>
          </a:p>
        </p:txBody>
      </p:sp>
      <p:sp>
        <p:nvSpPr>
          <p:cNvPr id="9" name="Text 6"/>
          <p:cNvSpPr txBox="1"/>
          <p:nvPr/>
        </p:nvSpPr>
        <p:spPr>
          <a:xfrm>
            <a:off x="8823960" y="2084832"/>
            <a:ext cx="2560320" cy="109728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Red_min is a LEVEL feature with a 1.97 SD city gap. It predicts age in Madrid and encodes city identity everywhere.</a:t>
            </a:r>
            <a:endParaRPr lang="en-US" sz="1250" dirty="0"/>
          </a:p>
        </p:txBody>
      </p:sp>
      <p:sp>
        <p:nvSpPr>
          <p:cNvPr id="10" name="Shape 7"/>
          <p:cNvSpPr/>
          <p:nvPr/>
        </p:nvSpPr>
        <p:spPr>
          <a:xfrm>
            <a:off x="8549640" y="3429000"/>
            <a:ext cx="3090672" cy="1691640"/>
          </a:xfrm>
          <a:prstGeom prst="roundRect">
            <a:avLst>
              <a:gd name="adj" fmla="val 2703"/>
            </a:avLst>
          </a:prstGeom>
          <a:solidFill>
            <a:srgbClr val="EBF2EF"/>
          </a:solidFill>
          <a:ln w="9525">
            <a:solidFill>
              <a:srgbClr val="EBF2EF"/>
            </a:solidFill>
            <a:prstDash val="solid"/>
          </a:ln>
        </p:spPr>
      </p:sp>
      <p:sp>
        <p:nvSpPr>
          <p:cNvPr id="11" name="Text 8"/>
          <p:cNvSpPr txBox="1"/>
          <p:nvPr/>
        </p:nvSpPr>
        <p:spPr>
          <a:xfrm>
            <a:off x="8823960" y="3611880"/>
            <a:ext cx="2560320" cy="310896"/>
          </a:xfrm>
          <a:prstGeom prst="rect">
            <a:avLst/>
          </a:prstGeom>
          <a:noFill/>
          <a:ln/>
        </p:spPr>
        <p:txBody>
          <a:bodyPr wrap="square" lIns="0" tIns="0" rIns="0" bIns="0" rtlCol="0" anchor="ctr"/>
          <a:lstStyle/>
          <a:p>
            <a:pPr marL="0" indent="0">
              <a:buNone/>
            </a:pPr>
            <a:r>
              <a:rPr lang="en-US" sz="1400" b="1" dirty="0">
                <a:solidFill>
                  <a:srgbClr val="1F4E3D"/>
                </a:solidFill>
                <a:latin typeface="Times New Roman" pitchFamily="34" charset="0"/>
                <a:ea typeface="Times New Roman" pitchFamily="34" charset="-122"/>
                <a:cs typeface="Times New Roman" pitchFamily="34" charset="-120"/>
              </a:rPr>
              <a:t>What we want</a:t>
            </a:r>
            <a:endParaRPr lang="en-US" sz="1400" dirty="0"/>
          </a:p>
        </p:txBody>
      </p:sp>
      <p:sp>
        <p:nvSpPr>
          <p:cNvPr id="12" name="Text 9"/>
          <p:cNvSpPr txBox="1"/>
          <p:nvPr/>
        </p:nvSpPr>
        <p:spPr>
          <a:xfrm>
            <a:off x="8823960" y="3959352"/>
            <a:ext cx="2560320" cy="109728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SWIR2_jump_size is a CHANGE feature with a 0.00 SD gap. Whatever it measures means the same thing in both cities.</a:t>
            </a:r>
            <a:endParaRPr lang="en-US" sz="1250" dirty="0"/>
          </a:p>
        </p:txBody>
      </p:sp>
      <p:sp>
        <p:nvSpPr>
          <p:cNvPr id="13" name="Text 10"/>
          <p:cNvSpPr txBox="1"/>
          <p:nvPr/>
        </p:nvSpPr>
        <p:spPr>
          <a:xfrm>
            <a:off x="827532" y="6169306"/>
            <a:ext cx="11091672" cy="460094"/>
          </a:xfrm>
          <a:prstGeom prst="rect">
            <a:avLst/>
          </a:prstGeom>
          <a:noFill/>
          <a:ln/>
        </p:spPr>
        <p:txBody>
          <a:bodyPr wrap="square" lIns="0" tIns="0" rIns="0" bIns="0" rtlCol="0" anchor="ctr"/>
          <a:lstStyle/>
          <a:p>
            <a:pPr marL="0" indent="0">
              <a:buNone/>
            </a:pPr>
            <a:r>
              <a:rPr lang="en-US" sz="1100" dirty="0">
                <a:latin typeface="Times New Roman" pitchFamily="34" charset="0"/>
                <a:ea typeface="Times New Roman" pitchFamily="34" charset="-122"/>
                <a:cs typeface="Times New Roman" pitchFamily="34" charset="-120"/>
              </a:rPr>
              <a:t>Mean city gap by group: LEVEL 1.37 SD, INDEX 0.87, SHAPE 0.38, CHANGE 0.28. LEVEL was flagged as a city fingerprint before any model was fitted.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5</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The Madrid model</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Notebook 04. Keeping neighbouring pixels in the same fold gives a harder, honest test.</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0332720" cy="1901952"/>
        </p:xfrm>
        <a:graphic>
          <a:graphicData uri="http://schemas.openxmlformats.org/drawingml/2006/table">
            <a:tbl>
              <a:tblPr/>
              <a:tblGrid>
                <a:gridCol w="4206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75488">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Madrid model</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Random folds</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Spatial blocks</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Leakage gap</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extLst>
                  <a:ext uri="{0D108BD9-81ED-4DB2-BD59-A6C34878D82A}">
                    <a16:rowId xmlns:a16="http://schemas.microsoft.com/office/drawing/2014/main" val="10000"/>
                  </a:ext>
                </a:extLst>
              </a:tr>
              <a:tr h="475488">
                <a:tc>
                  <a:txBody>
                    <a:bodyPr/>
                    <a:lstStyle/>
                    <a:p>
                      <a:pPr marL="0" indent="0" algn="l">
                        <a:buNone/>
                      </a:pPr>
                      <a:r>
                        <a:rPr lang="en-US" sz="1200" b="1" dirty="0">
                          <a:solidFill>
                            <a:srgbClr val="1C1C1A"/>
                          </a:solidFill>
                          <a:latin typeface="Times New Roman" pitchFamily="34" charset="0"/>
                          <a:ea typeface="Times New Roman" pitchFamily="34" charset="-122"/>
                          <a:cs typeface="Times New Roman" pitchFamily="34" charset="-120"/>
                        </a:rPr>
                        <a:t>Random forest, 300 trees, balanced</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0.6293</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4E3D"/>
                          </a:solidFill>
                          <a:latin typeface="Times New Roman" pitchFamily="34" charset="0"/>
                          <a:ea typeface="Times New Roman" pitchFamily="34" charset="-122"/>
                          <a:cs typeface="Times New Roman" pitchFamily="34" charset="-120"/>
                        </a:rPr>
                        <a:t>0.5954</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+0.034</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dirty="0">
                          <a:solidFill>
                            <a:srgbClr val="1C1C1A"/>
                          </a:solidFill>
                          <a:latin typeface="Times New Roman" pitchFamily="34" charset="0"/>
                          <a:ea typeface="Times New Roman" pitchFamily="34" charset="-122"/>
                          <a:cs typeface="Times New Roman" pitchFamily="34" charset="-120"/>
                        </a:rPr>
                        <a:t>HistGradientBoosting</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0.6330</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0.6022</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+0.031</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200" dirty="0">
                          <a:solidFill>
                            <a:srgbClr val="1C1C1A"/>
                          </a:solidFill>
                          <a:latin typeface="Times New Roman" pitchFamily="34" charset="0"/>
                          <a:ea typeface="Times New Roman" pitchFamily="34" charset="-122"/>
                          <a:cs typeface="Times New Roman" pitchFamily="34" charset="-120"/>
                        </a:rPr>
                        <a:t>HistGradientBoosting, no LEVEL</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0.6241</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C1C1A"/>
                          </a:solidFill>
                          <a:latin typeface="Times New Roman" pitchFamily="34" charset="0"/>
                          <a:ea typeface="Times New Roman" pitchFamily="34" charset="-122"/>
                          <a:cs typeface="Times New Roman" pitchFamily="34" charset="-120"/>
                        </a:rPr>
                        <a:t>0.5958</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76766D"/>
                          </a:solidFill>
                          <a:latin typeface="Times New Roman" pitchFamily="34" charset="0"/>
                          <a:ea typeface="Times New Roman" pitchFamily="34" charset="-122"/>
                          <a:cs typeface="Times New Roman" pitchFamily="34" charset="-120"/>
                        </a:rPr>
                        <a:t>+0.028</a:t>
                      </a:r>
                      <a:endParaRPr lang="en-US" sz="120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4"/>
          <p:cNvSpPr/>
          <p:nvPr/>
        </p:nvSpPr>
        <p:spPr>
          <a:xfrm>
            <a:off x="548640" y="3703320"/>
            <a:ext cx="5486400" cy="2194560"/>
          </a:xfrm>
          <a:prstGeom prst="roundRect">
            <a:avLst>
              <a:gd name="adj" fmla="val 2083"/>
            </a:avLst>
          </a:prstGeom>
          <a:solidFill>
            <a:srgbClr val="EBF2EF"/>
          </a:solidFill>
          <a:ln w="9525">
            <a:solidFill>
              <a:srgbClr val="EBF2EF"/>
            </a:solidFill>
            <a:prstDash val="solid"/>
          </a:ln>
        </p:spPr>
      </p:sp>
      <p:sp>
        <p:nvSpPr>
          <p:cNvPr id="8" name="Text 5"/>
          <p:cNvSpPr txBox="1"/>
          <p:nvPr/>
        </p:nvSpPr>
        <p:spPr>
          <a:xfrm>
            <a:off x="868680" y="3913632"/>
            <a:ext cx="475488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WHY THE SPATIAL COLUMN IS THE REAL ONE</a:t>
            </a:r>
            <a:endParaRPr lang="en-US" sz="1250" dirty="0"/>
          </a:p>
        </p:txBody>
      </p:sp>
      <p:sp>
        <p:nvSpPr>
          <p:cNvPr id="9" name="Text 6"/>
          <p:cNvSpPr txBox="1"/>
          <p:nvPr/>
        </p:nvSpPr>
        <p:spPr>
          <a:xfrm>
            <a:off x="868680" y="4279392"/>
            <a:ext cx="4846320" cy="1463040"/>
          </a:xfrm>
          <a:prstGeom prst="rect">
            <a:avLst/>
          </a:prstGeom>
          <a:noFill/>
          <a:ln/>
        </p:spPr>
        <p:txBody>
          <a:bodyPr wrap="square" lIns="0" tIns="0" rIns="0" bIns="0" rtlCol="0" anchor="ctr"/>
          <a:lstStyle/>
          <a:p>
            <a:pPr marL="0" indent="0">
              <a:lnSpc>
                <a:spcPts val="1900"/>
              </a:lnSpc>
              <a:buNone/>
            </a:pPr>
            <a:r>
              <a:rPr lang="en-US" sz="1300" dirty="0">
                <a:solidFill>
                  <a:srgbClr val="44443E"/>
                </a:solidFill>
                <a:latin typeface="Times New Roman" pitchFamily="34" charset="0"/>
                <a:ea typeface="Times New Roman" pitchFamily="34" charset="-122"/>
                <a:cs typeface="Times New Roman" pitchFamily="34" charset="-120"/>
              </a:rPr>
              <a:t>Neighbouring Landsat pixels are near-duplicates. Random folds put a pixel's neighbour in the test set, which inflates every score by about 0.034. We report the spatial column and we ship the random forest, so the number we claim is the number our saved artifact produces.</a:t>
            </a:r>
            <a:endParaRPr lang="en-US" sz="1300" dirty="0"/>
          </a:p>
        </p:txBody>
      </p:sp>
      <p:sp>
        <p:nvSpPr>
          <p:cNvPr id="10" name="Shape 7"/>
          <p:cNvSpPr/>
          <p:nvPr/>
        </p:nvSpPr>
        <p:spPr>
          <a:xfrm>
            <a:off x="6336792" y="3703320"/>
            <a:ext cx="5303520" cy="2194560"/>
          </a:xfrm>
          <a:prstGeom prst="roundRect">
            <a:avLst>
              <a:gd name="adj" fmla="val 2083"/>
            </a:avLst>
          </a:prstGeom>
          <a:solidFill>
            <a:srgbClr val="F5F5F2"/>
          </a:solidFill>
          <a:ln w="9525">
            <a:solidFill>
              <a:srgbClr val="F5F5F2"/>
            </a:solidFill>
            <a:prstDash val="solid"/>
          </a:ln>
        </p:spPr>
      </p:sp>
      <p:sp>
        <p:nvSpPr>
          <p:cNvPr id="11" name="Text 8"/>
          <p:cNvSpPr txBox="1"/>
          <p:nvPr/>
        </p:nvSpPr>
        <p:spPr>
          <a:xfrm>
            <a:off x="6656832" y="3913632"/>
            <a:ext cx="4572000" cy="274320"/>
          </a:xfrm>
          <a:prstGeom prst="rect">
            <a:avLst/>
          </a:prstGeom>
          <a:noFill/>
          <a:ln/>
        </p:spPr>
        <p:txBody>
          <a:bodyPr wrap="square" lIns="0" tIns="0" rIns="0" bIns="0" rtlCol="0" anchor="ctr"/>
          <a:lstStyle/>
          <a:p>
            <a:pPr marL="0" indent="0">
              <a:buNone/>
            </a:pPr>
            <a:r>
              <a:rPr lang="en-US" sz="1250" b="1" kern="0" spc="160" dirty="0">
                <a:solidFill>
                  <a:srgbClr val="1C1C1A"/>
                </a:solidFill>
                <a:latin typeface="Times New Roman" pitchFamily="34" charset="0"/>
                <a:ea typeface="Times New Roman" pitchFamily="34" charset="-122"/>
                <a:cs typeface="Times New Roman" pitchFamily="34" charset="-120"/>
              </a:rPr>
              <a:t>AGAINST THE ORGANISERS' REFERENCE</a:t>
            </a:r>
            <a:endParaRPr lang="en-US" sz="1250" dirty="0"/>
          </a:p>
        </p:txBody>
      </p:sp>
      <p:sp>
        <p:nvSpPr>
          <p:cNvPr id="12" name="Text 9"/>
          <p:cNvSpPr txBox="1"/>
          <p:nvPr/>
        </p:nvSpPr>
        <p:spPr>
          <a:xfrm>
            <a:off x="6656832" y="4279392"/>
            <a:ext cx="4663440" cy="1463040"/>
          </a:xfrm>
          <a:prstGeom prst="rect">
            <a:avLst/>
          </a:prstGeom>
          <a:noFill/>
          <a:ln/>
        </p:spPr>
        <p:txBody>
          <a:bodyPr wrap="square" lIns="0" tIns="0" rIns="0" bIns="0" rtlCol="0" anchor="ctr"/>
          <a:lstStyle/>
          <a:p>
            <a:pPr marL="0" indent="0">
              <a:lnSpc>
                <a:spcPts val="1900"/>
              </a:lnSpc>
              <a:buNone/>
            </a:pPr>
            <a:r>
              <a:rPr lang="en-US" sz="1300" dirty="0">
                <a:solidFill>
                  <a:srgbClr val="44443E"/>
                </a:solidFill>
                <a:latin typeface="Times New Roman" pitchFamily="34" charset="0"/>
                <a:ea typeface="Times New Roman" pitchFamily="34" charset="-122"/>
                <a:cs typeface="Times New Roman" pitchFamily="34" charset="-120"/>
              </a:rPr>
              <a:t>0.5954 against their 0.6179 is 1.6 SD, measured under a stricter split than theirs. Dropping the 18 brightness features costs almost nothing on Madrid (0.5958), which already hints that they carry city identity rather than age.</a:t>
            </a:r>
            <a:endParaRPr lang="en-US" sz="1300" dirty="0"/>
          </a:p>
        </p:txBody>
      </p:sp>
      <p:sp>
        <p:nvSpPr>
          <p:cNvPr id="13" name="Text 10"/>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Five spatial folds, blocks about 600 m wide. Stage 1 artifact: class-balanced random forest, 300 trees.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6</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The transfer method, in three steps</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 A prototype is the average example of an age class.</a:t>
            </a:r>
            <a:endParaRPr lang="en-US" sz="1450" dirty="0"/>
          </a:p>
        </p:txBody>
      </p:sp>
      <p:pic>
        <p:nvPicPr>
          <p:cNvPr id="6" name="Image 0" descr="/home/claude/deck_assets/g4_fig11_standardisation.png"/>
          <p:cNvPicPr>
            <a:picLocks noChangeAspect="1"/>
          </p:cNvPicPr>
          <p:nvPr/>
        </p:nvPicPr>
        <p:blipFill>
          <a:blip r:embed="rId3"/>
          <a:stretch>
            <a:fillRect/>
          </a:stretch>
        </p:blipFill>
        <p:spPr>
          <a:xfrm>
            <a:off x="548640" y="1536192"/>
            <a:ext cx="6583680" cy="3035808"/>
          </a:xfrm>
          <a:prstGeom prst="rect">
            <a:avLst/>
          </a:prstGeom>
        </p:spPr>
      </p:pic>
      <p:sp>
        <p:nvSpPr>
          <p:cNvPr id="7" name="Shape 4"/>
          <p:cNvSpPr/>
          <p:nvPr/>
        </p:nvSpPr>
        <p:spPr>
          <a:xfrm>
            <a:off x="7406640" y="1536192"/>
            <a:ext cx="4233672" cy="1417320"/>
          </a:xfrm>
          <a:prstGeom prst="roundRect">
            <a:avLst>
              <a:gd name="adj" fmla="val 3226"/>
            </a:avLst>
          </a:prstGeom>
          <a:solidFill>
            <a:srgbClr val="F5F5F2"/>
          </a:solidFill>
          <a:ln w="9525">
            <a:solidFill>
              <a:srgbClr val="F5F5F2"/>
            </a:solidFill>
            <a:prstDash val="solid"/>
          </a:ln>
        </p:spPr>
      </p:sp>
      <p:sp>
        <p:nvSpPr>
          <p:cNvPr id="8" name="Shape 5"/>
          <p:cNvSpPr/>
          <p:nvPr/>
        </p:nvSpPr>
        <p:spPr>
          <a:xfrm>
            <a:off x="7680960" y="1719072"/>
            <a:ext cx="384048" cy="384048"/>
          </a:xfrm>
          <a:prstGeom prst="ellipse">
            <a:avLst/>
          </a:prstGeom>
          <a:solidFill>
            <a:srgbClr val="1F4E3D"/>
          </a:solidFill>
          <a:ln/>
        </p:spPr>
      </p:sp>
      <p:sp>
        <p:nvSpPr>
          <p:cNvPr id="9" name="Text 6"/>
          <p:cNvSpPr txBox="1"/>
          <p:nvPr/>
        </p:nvSpPr>
        <p:spPr>
          <a:xfrm>
            <a:off x="7680960" y="171907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01</a:t>
            </a:r>
            <a:endParaRPr lang="en-US" sz="1250" dirty="0"/>
          </a:p>
        </p:txBody>
      </p:sp>
      <p:sp>
        <p:nvSpPr>
          <p:cNvPr id="10" name="Text 7"/>
          <p:cNvSpPr txBox="1"/>
          <p:nvPr/>
        </p:nvSpPr>
        <p:spPr>
          <a:xfrm>
            <a:off x="8211312" y="1682496"/>
            <a:ext cx="3200400" cy="457200"/>
          </a:xfrm>
          <a:prstGeom prst="rect">
            <a:avLst/>
          </a:prstGeom>
          <a:noFill/>
          <a:ln/>
        </p:spPr>
        <p:txBody>
          <a:bodyPr wrap="square" lIns="0" tIns="0" rIns="0" bIns="0" rtlCol="0" anchor="ctr"/>
          <a:lstStyle/>
          <a:p>
            <a:pPr marL="0" indent="0">
              <a:lnSpc>
                <a:spcPts val="1700"/>
              </a:lnSpc>
              <a:buNone/>
            </a:pPr>
            <a:r>
              <a:rPr lang="en-US" sz="1400" b="1" dirty="0">
                <a:solidFill>
                  <a:srgbClr val="1C1C1A"/>
                </a:solidFill>
                <a:latin typeface="Times New Roman" pitchFamily="34" charset="0"/>
                <a:ea typeface="Times New Roman" pitchFamily="34" charset="-122"/>
                <a:cs typeface="Times New Roman" pitchFamily="34" charset="-120"/>
              </a:rPr>
              <a:t>Scale each city within itself</a:t>
            </a:r>
            <a:endParaRPr lang="en-US" sz="1400" dirty="0"/>
          </a:p>
        </p:txBody>
      </p:sp>
      <p:sp>
        <p:nvSpPr>
          <p:cNvPr id="11" name="Text 8"/>
          <p:cNvSpPr txBox="1"/>
          <p:nvPr/>
        </p:nvSpPr>
        <p:spPr>
          <a:xfrm>
            <a:off x="8211312" y="2176272"/>
            <a:ext cx="3200400" cy="685800"/>
          </a:xfrm>
          <a:prstGeom prst="rect">
            <a:avLst/>
          </a:prstGeom>
          <a:noFill/>
          <a:ln/>
        </p:spPr>
        <p:txBody>
          <a:bodyPr wrap="square" lIns="0" tIns="0" rIns="0" bIns="0" rtlCol="0" anchor="ctr"/>
          <a:lstStyle/>
          <a:p>
            <a:pPr marL="0" indent="0">
              <a:lnSpc>
                <a:spcPts val="1500"/>
              </a:lnSpc>
              <a:buNone/>
            </a:pPr>
            <a:r>
              <a:rPr lang="en-US" sz="1150" dirty="0">
                <a:solidFill>
                  <a:srgbClr val="44443E"/>
                </a:solidFill>
                <a:latin typeface="Times New Roman" pitchFamily="34" charset="0"/>
                <a:ea typeface="Times New Roman" pitchFamily="34" charset="-122"/>
                <a:cs typeface="Times New Roman" pitchFamily="34" charset="-120"/>
              </a:rPr>
              <a:t>Uses no labels at all. Drives the mean city gap from 0.70 SD to 0.00, and is worth +0.014 macro F1 on prototype transfer (0.5258 to 0.5400).</a:t>
            </a:r>
            <a:endParaRPr lang="en-US" sz="1150" dirty="0"/>
          </a:p>
        </p:txBody>
      </p:sp>
      <p:sp>
        <p:nvSpPr>
          <p:cNvPr id="12" name="Shape 9"/>
          <p:cNvSpPr/>
          <p:nvPr/>
        </p:nvSpPr>
        <p:spPr>
          <a:xfrm>
            <a:off x="7406640" y="3108960"/>
            <a:ext cx="4233672" cy="1417320"/>
          </a:xfrm>
          <a:prstGeom prst="roundRect">
            <a:avLst>
              <a:gd name="adj" fmla="val 3226"/>
            </a:avLst>
          </a:prstGeom>
          <a:solidFill>
            <a:srgbClr val="EBF2EF"/>
          </a:solidFill>
          <a:ln w="9525">
            <a:solidFill>
              <a:srgbClr val="EBF2EF"/>
            </a:solidFill>
            <a:prstDash val="solid"/>
          </a:ln>
        </p:spPr>
      </p:sp>
      <p:sp>
        <p:nvSpPr>
          <p:cNvPr id="13" name="Shape 10"/>
          <p:cNvSpPr/>
          <p:nvPr/>
        </p:nvSpPr>
        <p:spPr>
          <a:xfrm>
            <a:off x="7680960" y="3291840"/>
            <a:ext cx="384048" cy="384048"/>
          </a:xfrm>
          <a:prstGeom prst="ellipse">
            <a:avLst/>
          </a:prstGeom>
          <a:solidFill>
            <a:srgbClr val="1F4E3D"/>
          </a:solidFill>
          <a:ln/>
        </p:spPr>
      </p:sp>
      <p:sp>
        <p:nvSpPr>
          <p:cNvPr id="14" name="Text 11"/>
          <p:cNvSpPr txBox="1"/>
          <p:nvPr/>
        </p:nvSpPr>
        <p:spPr>
          <a:xfrm>
            <a:off x="7680960" y="329184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02</a:t>
            </a:r>
            <a:endParaRPr lang="en-US" sz="1250" dirty="0"/>
          </a:p>
        </p:txBody>
      </p:sp>
      <p:sp>
        <p:nvSpPr>
          <p:cNvPr id="15" name="Text 12"/>
          <p:cNvSpPr txBox="1"/>
          <p:nvPr/>
        </p:nvSpPr>
        <p:spPr>
          <a:xfrm>
            <a:off x="8211312" y="3255264"/>
            <a:ext cx="3200400" cy="457200"/>
          </a:xfrm>
          <a:prstGeom prst="rect">
            <a:avLst/>
          </a:prstGeom>
          <a:noFill/>
          <a:ln/>
        </p:spPr>
        <p:txBody>
          <a:bodyPr wrap="square" lIns="0" tIns="0" rIns="0" bIns="0" rtlCol="0" anchor="ctr"/>
          <a:lstStyle/>
          <a:p>
            <a:pPr marL="0" indent="0">
              <a:lnSpc>
                <a:spcPts val="1700"/>
              </a:lnSpc>
              <a:buNone/>
            </a:pPr>
            <a:r>
              <a:rPr lang="en-US" sz="1400" b="1" dirty="0">
                <a:solidFill>
                  <a:srgbClr val="1C1C1A"/>
                </a:solidFill>
                <a:latin typeface="Times New Roman" pitchFamily="34" charset="0"/>
                <a:ea typeface="Times New Roman" pitchFamily="34" charset="-122"/>
                <a:cs typeface="Times New Roman" pitchFamily="34" charset="-120"/>
              </a:rPr>
              <a:t>Blend the class averages 50/50</a:t>
            </a:r>
            <a:endParaRPr lang="en-US" sz="1400" dirty="0"/>
          </a:p>
        </p:txBody>
      </p:sp>
      <p:sp>
        <p:nvSpPr>
          <p:cNvPr id="16" name="Text 13"/>
          <p:cNvSpPr txBox="1"/>
          <p:nvPr/>
        </p:nvSpPr>
        <p:spPr>
          <a:xfrm>
            <a:off x="8211312" y="3749040"/>
            <a:ext cx="3200400" cy="685800"/>
          </a:xfrm>
          <a:prstGeom prst="rect">
            <a:avLst/>
          </a:prstGeom>
          <a:noFill/>
          <a:ln/>
        </p:spPr>
        <p:txBody>
          <a:bodyPr wrap="square" lIns="0" tIns="0" rIns="0" bIns="0" rtlCol="0" anchor="ctr"/>
          <a:lstStyle/>
          <a:p>
            <a:pPr marL="0" indent="0">
              <a:lnSpc>
                <a:spcPts val="1500"/>
              </a:lnSpc>
              <a:buNone/>
            </a:pPr>
            <a:r>
              <a:rPr lang="en-US" sz="1150" dirty="0">
                <a:solidFill>
                  <a:srgbClr val="44443E"/>
                </a:solidFill>
                <a:latin typeface="Times New Roman" pitchFamily="34" charset="0"/>
                <a:ea typeface="Times New Roman" pitchFamily="34" charset="-122"/>
                <a:cs typeface="Times New Roman" pitchFamily="34" charset="-120"/>
              </a:rPr>
              <a:t>Amsterdam's few labels give a noisy class centre. Madrid supplies a prior. Mix them.</a:t>
            </a:r>
            <a:endParaRPr lang="en-US" sz="1150" dirty="0"/>
          </a:p>
        </p:txBody>
      </p:sp>
      <p:sp>
        <p:nvSpPr>
          <p:cNvPr id="17" name="Shape 14"/>
          <p:cNvSpPr/>
          <p:nvPr/>
        </p:nvSpPr>
        <p:spPr>
          <a:xfrm>
            <a:off x="7406640" y="4681728"/>
            <a:ext cx="4233672" cy="1417320"/>
          </a:xfrm>
          <a:prstGeom prst="roundRect">
            <a:avLst>
              <a:gd name="adj" fmla="val 3226"/>
            </a:avLst>
          </a:prstGeom>
          <a:solidFill>
            <a:srgbClr val="F5F5F2"/>
          </a:solidFill>
          <a:ln w="9525">
            <a:solidFill>
              <a:srgbClr val="F5F5F2"/>
            </a:solidFill>
            <a:prstDash val="solid"/>
          </a:ln>
        </p:spPr>
      </p:sp>
      <p:sp>
        <p:nvSpPr>
          <p:cNvPr id="18" name="Shape 15"/>
          <p:cNvSpPr/>
          <p:nvPr/>
        </p:nvSpPr>
        <p:spPr>
          <a:xfrm>
            <a:off x="7680960" y="4864608"/>
            <a:ext cx="384048" cy="384048"/>
          </a:xfrm>
          <a:prstGeom prst="ellipse">
            <a:avLst/>
          </a:prstGeom>
          <a:solidFill>
            <a:srgbClr val="1F4E3D"/>
          </a:solidFill>
          <a:ln/>
        </p:spPr>
      </p:sp>
      <p:sp>
        <p:nvSpPr>
          <p:cNvPr id="19" name="Text 16"/>
          <p:cNvSpPr txBox="1"/>
          <p:nvPr/>
        </p:nvSpPr>
        <p:spPr>
          <a:xfrm>
            <a:off x="7680960" y="486460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03</a:t>
            </a:r>
            <a:endParaRPr lang="en-US" sz="1250" dirty="0"/>
          </a:p>
        </p:txBody>
      </p:sp>
      <p:sp>
        <p:nvSpPr>
          <p:cNvPr id="20" name="Text 17"/>
          <p:cNvSpPr txBox="1"/>
          <p:nvPr/>
        </p:nvSpPr>
        <p:spPr>
          <a:xfrm>
            <a:off x="8211312" y="4828032"/>
            <a:ext cx="3200400" cy="457200"/>
          </a:xfrm>
          <a:prstGeom prst="rect">
            <a:avLst/>
          </a:prstGeom>
          <a:noFill/>
          <a:ln/>
        </p:spPr>
        <p:txBody>
          <a:bodyPr wrap="square" lIns="0" tIns="0" rIns="0" bIns="0" rtlCol="0" anchor="ctr"/>
          <a:lstStyle/>
          <a:p>
            <a:pPr marL="0" indent="0">
              <a:lnSpc>
                <a:spcPts val="1700"/>
              </a:lnSpc>
              <a:buNone/>
            </a:pPr>
            <a:r>
              <a:rPr lang="en-US" sz="1400" b="1" dirty="0">
                <a:solidFill>
                  <a:srgbClr val="1C1C1A"/>
                </a:solidFill>
                <a:latin typeface="Times New Roman" pitchFamily="34" charset="0"/>
                <a:ea typeface="Times New Roman" pitchFamily="34" charset="-122"/>
                <a:cs typeface="Times New Roman" pitchFamily="34" charset="-120"/>
              </a:rPr>
              <a:t>Assign to the nearest blended centre</a:t>
            </a:r>
            <a:endParaRPr lang="en-US" sz="1400" dirty="0"/>
          </a:p>
        </p:txBody>
      </p:sp>
      <p:sp>
        <p:nvSpPr>
          <p:cNvPr id="21" name="Text 18"/>
          <p:cNvSpPr txBox="1"/>
          <p:nvPr/>
        </p:nvSpPr>
        <p:spPr>
          <a:xfrm>
            <a:off x="8211312" y="5321808"/>
            <a:ext cx="3200400" cy="685800"/>
          </a:xfrm>
          <a:prstGeom prst="rect">
            <a:avLst/>
          </a:prstGeom>
          <a:noFill/>
          <a:ln/>
        </p:spPr>
        <p:txBody>
          <a:bodyPr wrap="square" lIns="0" tIns="0" rIns="0" bIns="0" rtlCol="0" anchor="ctr"/>
          <a:lstStyle/>
          <a:p>
            <a:pPr marL="0" indent="0">
              <a:lnSpc>
                <a:spcPts val="1500"/>
              </a:lnSpc>
              <a:buNone/>
            </a:pPr>
            <a:r>
              <a:rPr lang="en-US" sz="1150" dirty="0">
                <a:solidFill>
                  <a:srgbClr val="44443E"/>
                </a:solidFill>
                <a:latin typeface="Times New Roman" pitchFamily="34" charset="0"/>
                <a:ea typeface="Times New Roman" pitchFamily="34" charset="-122"/>
                <a:cs typeface="Times New Roman" pitchFamily="34" charset="-120"/>
              </a:rPr>
              <a:t>No trees cross the border. Four prototype vectors do.</a:t>
            </a:r>
            <a:endParaRPr lang="en-US" sz="1150" dirty="0"/>
          </a:p>
        </p:txBody>
      </p:sp>
      <p:sp>
        <p:nvSpPr>
          <p:cNvPr id="22" name="Text 19"/>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10,998 fixed evaluation pixels, chosen once. Label budgets of 5, 25, 50, 100 and 200 per class. Macro F1 weights all four age groups equally.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7</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Results</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Madrid cross-validated F1, and Amsterdam F1 at each label budget.</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2640980408"/>
              </p:ext>
            </p:extLst>
          </p:nvPr>
        </p:nvGraphicFramePr>
        <p:xfrm>
          <a:off x="548639" y="1481328"/>
          <a:ext cx="6407745" cy="3657600"/>
        </p:xfrm>
        <a:graphic>
          <a:graphicData uri="http://schemas.openxmlformats.org/drawingml/2006/table">
            <a:tbl>
              <a:tblPr/>
              <a:tblGrid>
                <a:gridCol w="3963554">
                  <a:extLst>
                    <a:ext uri="{9D8B030D-6E8A-4147-A177-3AD203B41FA5}">
                      <a16:colId xmlns:a16="http://schemas.microsoft.com/office/drawing/2014/main" val="20000"/>
                    </a:ext>
                  </a:extLst>
                </a:gridCol>
                <a:gridCol w="2444191">
                  <a:extLst>
                    <a:ext uri="{9D8B030D-6E8A-4147-A177-3AD203B41FA5}">
                      <a16:colId xmlns:a16="http://schemas.microsoft.com/office/drawing/2014/main" val="20001"/>
                    </a:ext>
                  </a:extLst>
                </a:gridCol>
              </a:tblGrid>
              <a:tr h="457200">
                <a:tc>
                  <a:txBody>
                    <a:bodyPr/>
                    <a:lstStyle/>
                    <a:p>
                      <a:pPr marL="0" indent="0" algn="ctr">
                        <a:buNone/>
                      </a:pP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tc>
                  <a:txBody>
                    <a:bodyPr/>
                    <a:lstStyle/>
                    <a:p>
                      <a:pPr marL="0" indent="0" algn="ctr">
                        <a:buNone/>
                      </a:pPr>
                      <a:r>
                        <a:rPr lang="en-US" sz="1250" b="1" dirty="0">
                          <a:solidFill>
                            <a:srgbClr val="FFFFFF"/>
                          </a:solidFill>
                          <a:latin typeface="Times New Roman" pitchFamily="34" charset="0"/>
                          <a:ea typeface="Times New Roman" charset="0"/>
                          <a:cs typeface="Times New Roman" pitchFamily="34" charset="-120"/>
                        </a:rPr>
                        <a:t>Value</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1F4E3D"/>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1C1C1A"/>
                          </a:solidFill>
                          <a:latin typeface="Times New Roman" pitchFamily="34" charset="0"/>
                          <a:ea typeface="Times New Roman" pitchFamily="34" charset="-122"/>
                          <a:cs typeface="Times New Roman" pitchFamily="34" charset="-120"/>
                        </a:rPr>
                        <a:t>Madrid, 5-fold spatial CV</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E3D"/>
                          </a:solidFill>
                          <a:latin typeface="Times New Roman" pitchFamily="34" charset="0"/>
                          <a:ea typeface="Times New Roman" pitchFamily="34" charset="-122"/>
                          <a:cs typeface="Times New Roman" pitchFamily="34" charset="-120"/>
                        </a:rPr>
                        <a:t>0.5954 ± 0.0138</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1C1C1A"/>
                          </a:solidFill>
                          <a:latin typeface="Times New Roman" pitchFamily="34" charset="0"/>
                          <a:ea typeface="Times New Roman" pitchFamily="34" charset="-122"/>
                          <a:cs typeface="Times New Roman" pitchFamily="34" charset="-120"/>
                        </a:rPr>
                        <a:t>Amsterdam, zero-shot</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4E3D"/>
                          </a:solidFill>
                          <a:latin typeface="Times New Roman" pitchFamily="34" charset="0"/>
                          <a:ea typeface="Times New Roman" pitchFamily="34" charset="-122"/>
                          <a:cs typeface="Times New Roman" pitchFamily="34" charset="-120"/>
                        </a:rPr>
                        <a:t>0.4553</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C1C1A"/>
                          </a:solidFill>
                          <a:latin typeface="Times New Roman" pitchFamily="34" charset="0"/>
                          <a:ea typeface="Times New Roman" pitchFamily="34" charset="-122"/>
                          <a:cs typeface="Times New Roman" pitchFamily="34" charset="-120"/>
                        </a:rPr>
                        <a:t>Amsterdam, 5 labels/class</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4E3D"/>
                          </a:solidFill>
                          <a:latin typeface="Times New Roman" pitchFamily="34" charset="0"/>
                          <a:ea typeface="Times New Roman" pitchFamily="34" charset="-122"/>
                          <a:cs typeface="Times New Roman" pitchFamily="34" charset="-120"/>
                        </a:rPr>
                        <a:t>0.4882 ± 0.0433</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1C1C1A"/>
                          </a:solidFill>
                          <a:latin typeface="Times New Roman" pitchFamily="34" charset="0"/>
                          <a:ea typeface="Times New Roman" pitchFamily="34" charset="-122"/>
                          <a:cs typeface="Times New Roman" pitchFamily="34" charset="-120"/>
                        </a:rPr>
                        <a:t>Amsterdam, 25 labels/class</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4E3D"/>
                          </a:solidFill>
                          <a:latin typeface="Times New Roman" pitchFamily="34" charset="0"/>
                          <a:ea typeface="Times New Roman" pitchFamily="34" charset="-122"/>
                          <a:cs typeface="Times New Roman" pitchFamily="34" charset="-120"/>
                        </a:rPr>
                        <a:t>0.5605 ± 0.0125</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1C1C1A"/>
                          </a:solidFill>
                          <a:latin typeface="Times New Roman" pitchFamily="34" charset="0"/>
                          <a:ea typeface="Times New Roman" pitchFamily="34" charset="-122"/>
                          <a:cs typeface="Times New Roman" pitchFamily="34" charset="-120"/>
                        </a:rPr>
                        <a:t>Amsterdam, 50 labels/class</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4E3D"/>
                          </a:solidFill>
                          <a:latin typeface="Times New Roman" pitchFamily="34" charset="0"/>
                          <a:ea typeface="Times New Roman" pitchFamily="34" charset="-122"/>
                          <a:cs typeface="Times New Roman" pitchFamily="34" charset="-120"/>
                        </a:rPr>
                        <a:t>0.5651 ± 0.0133</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1C1C1A"/>
                          </a:solidFill>
                          <a:latin typeface="Times New Roman" pitchFamily="34" charset="0"/>
                          <a:ea typeface="Times New Roman" pitchFamily="34" charset="-122"/>
                          <a:cs typeface="Times New Roman" pitchFamily="34" charset="-120"/>
                        </a:rPr>
                        <a:t>Amsterdam, 100 labels/class</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4E3D"/>
                          </a:solidFill>
                          <a:latin typeface="Times New Roman" pitchFamily="34" charset="0"/>
                          <a:ea typeface="Times New Roman" pitchFamily="34" charset="-122"/>
                          <a:cs typeface="Times New Roman" pitchFamily="34" charset="-120"/>
                        </a:rPr>
                        <a:t>0.5714 ± 0.0091</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250" dirty="0">
                          <a:solidFill>
                            <a:srgbClr val="1C1C1A"/>
                          </a:solidFill>
                          <a:latin typeface="Times New Roman" pitchFamily="34" charset="0"/>
                          <a:ea typeface="Times New Roman" pitchFamily="34" charset="-122"/>
                          <a:cs typeface="Times New Roman" pitchFamily="34" charset="-120"/>
                        </a:rPr>
                        <a:t>Amsterdam, 200 labels/class</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4E3D"/>
                          </a:solidFill>
                          <a:latin typeface="Times New Roman" pitchFamily="34" charset="0"/>
                          <a:ea typeface="Times New Roman" pitchFamily="34" charset="-122"/>
                          <a:cs typeface="Times New Roman" pitchFamily="34" charset="-120"/>
                        </a:rPr>
                        <a:t>0.5766 ± 0.0028</a:t>
                      </a:r>
                      <a:endParaRPr lang="en-US" sz="1250" dirty="0">
                        <a:latin typeface="Times New Roman" charset="0"/>
                        <a:ea typeface="Times New Roman" charset="0"/>
                        <a:cs typeface="Times New Roman" charset="0"/>
                      </a:endParaRPr>
                    </a:p>
                  </a:txBody>
                  <a:tcPr anchor="ctr">
                    <a:lnL w="6350" cap="flat" cmpd="sng" algn="ctr">
                      <a:solidFill>
                        <a:srgbClr val="DCDCD5"/>
                      </a:solidFill>
                      <a:prstDash val="solid"/>
                      <a:round/>
                      <a:headEnd type="none" w="med" len="med"/>
                      <a:tailEnd type="none" w="med" len="med"/>
                    </a:lnL>
                    <a:lnR w="6350" cap="flat" cmpd="sng" algn="ctr">
                      <a:solidFill>
                        <a:srgbClr val="DCDCD5"/>
                      </a:solidFill>
                      <a:prstDash val="solid"/>
                      <a:round/>
                      <a:headEnd type="none" w="med" len="med"/>
                      <a:tailEnd type="none" w="med" len="med"/>
                    </a:lnR>
                    <a:lnT w="6350" cap="flat" cmpd="sng" algn="ctr">
                      <a:solidFill>
                        <a:srgbClr val="DCDCD5"/>
                      </a:solidFill>
                      <a:prstDash val="solid"/>
                      <a:round/>
                      <a:headEnd type="none" w="med" len="med"/>
                      <a:tailEnd type="none" w="med" len="med"/>
                    </a:lnT>
                    <a:lnB w="6350" cap="flat" cmpd="sng" algn="ctr">
                      <a:solidFill>
                        <a:srgbClr val="DCDCD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8</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Macro F1 against log₂ of the label budget</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Required plot. Our method against the baseline's, both under the same blocked evaluation.</a:t>
            </a:r>
            <a:endParaRPr lang="en-US" sz="1450" dirty="0"/>
          </a:p>
        </p:txBody>
      </p:sp>
      <p:pic>
        <p:nvPicPr>
          <p:cNvPr id="6" name="Image 0" descr="/home/claude/deck_assets/fig_f1_curve.png"/>
          <p:cNvPicPr>
            <a:picLocks noChangeAspect="1"/>
          </p:cNvPicPr>
          <p:nvPr/>
        </p:nvPicPr>
        <p:blipFill>
          <a:blip r:embed="rId3"/>
          <a:stretch>
            <a:fillRect/>
          </a:stretch>
        </p:blipFill>
        <p:spPr>
          <a:xfrm>
            <a:off x="1051560" y="1371600"/>
            <a:ext cx="8412480" cy="4800600"/>
          </a:xfrm>
          <a:prstGeom prst="rect">
            <a:avLst/>
          </a:prstGeom>
        </p:spPr>
      </p:pic>
      <p:sp>
        <p:nvSpPr>
          <p:cNvPr id="7" name="Shape 4"/>
          <p:cNvSpPr/>
          <p:nvPr/>
        </p:nvSpPr>
        <p:spPr>
          <a:xfrm>
            <a:off x="9692640" y="1572768"/>
            <a:ext cx="1947672" cy="2286000"/>
          </a:xfrm>
          <a:prstGeom prst="roundRect">
            <a:avLst>
              <a:gd name="adj" fmla="val 2347"/>
            </a:avLst>
          </a:prstGeom>
          <a:solidFill>
            <a:srgbClr val="EBF2EF"/>
          </a:solidFill>
          <a:ln w="9525">
            <a:solidFill>
              <a:srgbClr val="EBF2EF"/>
            </a:solidFill>
            <a:prstDash val="solid"/>
          </a:ln>
        </p:spPr>
      </p:sp>
      <p:sp>
        <p:nvSpPr>
          <p:cNvPr id="8" name="Text 5"/>
          <p:cNvSpPr txBox="1"/>
          <p:nvPr/>
        </p:nvSpPr>
        <p:spPr>
          <a:xfrm>
            <a:off x="9921240" y="1773936"/>
            <a:ext cx="1554480" cy="320040"/>
          </a:xfrm>
          <a:prstGeom prst="rect">
            <a:avLst/>
          </a:prstGeom>
          <a:noFill/>
          <a:ln/>
        </p:spPr>
        <p:txBody>
          <a:bodyPr wrap="square" lIns="0" tIns="0" rIns="0" bIns="0" rtlCol="0" anchor="ctr"/>
          <a:lstStyle/>
          <a:p>
            <a:pPr marL="0" indent="0">
              <a:buNone/>
            </a:pPr>
            <a:r>
              <a:rPr lang="en-US" sz="1300" b="1" dirty="0">
                <a:solidFill>
                  <a:srgbClr val="1F4E3D"/>
                </a:solidFill>
                <a:latin typeface="Times New Roman" pitchFamily="34" charset="0"/>
                <a:ea typeface="Times New Roman" pitchFamily="34" charset="-122"/>
                <a:cs typeface="Times New Roman" pitchFamily="34" charset="-120"/>
              </a:rPr>
              <a:t>The gap is flat</a:t>
            </a:r>
            <a:endParaRPr lang="en-US" sz="1300" dirty="0"/>
          </a:p>
        </p:txBody>
      </p:sp>
      <p:sp>
        <p:nvSpPr>
          <p:cNvPr id="9" name="Text 6"/>
          <p:cNvSpPr txBox="1"/>
          <p:nvPr/>
        </p:nvSpPr>
        <p:spPr>
          <a:xfrm>
            <a:off x="9921240" y="2139696"/>
            <a:ext cx="1554480" cy="1554480"/>
          </a:xfrm>
          <a:prstGeom prst="rect">
            <a:avLst/>
          </a:prstGeom>
          <a:noFill/>
          <a:ln/>
        </p:spPr>
        <p:txBody>
          <a:bodyPr wrap="square" lIns="0" tIns="0" rIns="0" bIns="0" rtlCol="0" anchor="ctr"/>
          <a:lstStyle/>
          <a:p>
            <a:pPr marL="0" indent="0">
              <a:lnSpc>
                <a:spcPts val="1600"/>
              </a:lnSpc>
              <a:buNone/>
            </a:pPr>
            <a:r>
              <a:rPr lang="en-US" sz="1200" dirty="0">
                <a:solidFill>
                  <a:srgbClr val="44443E"/>
                </a:solidFill>
                <a:latin typeface="Times New Roman" pitchFamily="34" charset="0"/>
                <a:ea typeface="Times New Roman" pitchFamily="34" charset="-122"/>
                <a:cs typeface="Times New Roman" pitchFamily="34" charset="-120"/>
              </a:rPr>
              <a:t>Shrinkage helps most where it should, at 5 labels per class (+0.045), and still helps at 200.</a:t>
            </a:r>
            <a:endParaRPr lang="en-US" sz="1200" dirty="0"/>
          </a:p>
        </p:txBody>
      </p:sp>
      <p:sp>
        <p:nvSpPr>
          <p:cNvPr id="10" name="Shape 7"/>
          <p:cNvSpPr/>
          <p:nvPr/>
        </p:nvSpPr>
        <p:spPr>
          <a:xfrm>
            <a:off x="9692640" y="4069080"/>
            <a:ext cx="1947672" cy="2103120"/>
          </a:xfrm>
          <a:prstGeom prst="roundRect">
            <a:avLst>
              <a:gd name="adj" fmla="val 2347"/>
            </a:avLst>
          </a:prstGeom>
          <a:solidFill>
            <a:srgbClr val="F5F5F2"/>
          </a:solidFill>
          <a:ln w="9525">
            <a:solidFill>
              <a:srgbClr val="F5F5F2"/>
            </a:solidFill>
            <a:prstDash val="solid"/>
          </a:ln>
        </p:spPr>
      </p:sp>
      <p:sp>
        <p:nvSpPr>
          <p:cNvPr id="11" name="Text 8"/>
          <p:cNvSpPr txBox="1"/>
          <p:nvPr/>
        </p:nvSpPr>
        <p:spPr>
          <a:xfrm>
            <a:off x="9921240" y="4270248"/>
            <a:ext cx="1554480" cy="320040"/>
          </a:xfrm>
          <a:prstGeom prst="rect">
            <a:avLst/>
          </a:prstGeom>
          <a:noFill/>
          <a:ln/>
        </p:spPr>
        <p:txBody>
          <a:bodyPr wrap="square" lIns="0" tIns="0" rIns="0" bIns="0" rtlCol="0" anchor="ctr"/>
          <a:lstStyle/>
          <a:p>
            <a:pPr marL="0" indent="0">
              <a:buNone/>
            </a:pPr>
            <a:r>
              <a:rPr lang="en-US" sz="1300" b="1" dirty="0">
                <a:solidFill>
                  <a:srgbClr val="1C1C1A"/>
                </a:solidFill>
                <a:latin typeface="Times New Roman" pitchFamily="34" charset="0"/>
                <a:ea typeface="Times New Roman" pitchFamily="34" charset="-122"/>
                <a:cs typeface="Times New Roman" pitchFamily="34" charset="-120"/>
              </a:rPr>
              <a:t>The plateau</a:t>
            </a:r>
            <a:endParaRPr lang="en-US" sz="1300" dirty="0"/>
          </a:p>
        </p:txBody>
      </p:sp>
      <p:sp>
        <p:nvSpPr>
          <p:cNvPr id="12" name="Text 9"/>
          <p:cNvSpPr txBox="1"/>
          <p:nvPr/>
        </p:nvSpPr>
        <p:spPr>
          <a:xfrm>
            <a:off x="9921240" y="4636008"/>
            <a:ext cx="1554480" cy="1463040"/>
          </a:xfrm>
          <a:prstGeom prst="rect">
            <a:avLst/>
          </a:prstGeom>
          <a:noFill/>
          <a:ln/>
        </p:spPr>
        <p:txBody>
          <a:bodyPr wrap="square" lIns="0" tIns="0" rIns="0" bIns="0" rtlCol="0" anchor="ctr"/>
          <a:lstStyle/>
          <a:p>
            <a:pPr marL="0" indent="0">
              <a:lnSpc>
                <a:spcPts val="1600"/>
              </a:lnSpc>
              <a:buNone/>
            </a:pPr>
            <a:r>
              <a:rPr lang="en-US" sz="1200" dirty="0">
                <a:solidFill>
                  <a:srgbClr val="44443E"/>
                </a:solidFill>
                <a:latin typeface="Times New Roman" pitchFamily="34" charset="0"/>
                <a:ea typeface="Times New Roman" pitchFamily="34" charset="-122"/>
                <a:cs typeface="Times New Roman" pitchFamily="34" charset="-120"/>
              </a:rPr>
              <a:t>Past 25 labels the curve flattens. What is left is domain shift, not a shortage of labels.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9</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Eight methods, one harness: what worked and what did not</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25 labels per class, three label draws, one fixed Amsterdam evaluation set.</a:t>
            </a:r>
            <a:endParaRPr lang="en-US" sz="1450" dirty="0"/>
          </a:p>
        </p:txBody>
      </p:sp>
      <p:pic>
        <p:nvPicPr>
          <p:cNvPr id="6" name="Image 0" descr="/home/claude/deck_assets/fig_screen.png"/>
          <p:cNvPicPr>
            <a:picLocks noChangeAspect="1"/>
          </p:cNvPicPr>
          <p:nvPr/>
        </p:nvPicPr>
        <p:blipFill>
          <a:blip r:embed="rId3"/>
          <a:stretch>
            <a:fillRect/>
          </a:stretch>
        </p:blipFill>
        <p:spPr>
          <a:xfrm>
            <a:off x="548640" y="1463040"/>
            <a:ext cx="6675120" cy="4206240"/>
          </a:xfrm>
          <a:prstGeom prst="rect">
            <a:avLst/>
          </a:prstGeom>
        </p:spPr>
      </p:pic>
      <p:sp>
        <p:nvSpPr>
          <p:cNvPr id="7" name="Shape 4"/>
          <p:cNvSpPr/>
          <p:nvPr/>
        </p:nvSpPr>
        <p:spPr>
          <a:xfrm>
            <a:off x="7498080" y="1463040"/>
            <a:ext cx="4142232" cy="2057400"/>
          </a:xfrm>
          <a:prstGeom prst="roundRect">
            <a:avLst>
              <a:gd name="adj" fmla="val 2222"/>
            </a:avLst>
          </a:prstGeom>
          <a:solidFill>
            <a:srgbClr val="EBF2EF"/>
          </a:solidFill>
          <a:ln w="9525">
            <a:solidFill>
              <a:srgbClr val="EBF2EF"/>
            </a:solidFill>
            <a:prstDash val="solid"/>
          </a:ln>
        </p:spPr>
      </p:sp>
      <p:sp>
        <p:nvSpPr>
          <p:cNvPr id="8" name="Text 5"/>
          <p:cNvSpPr txBox="1"/>
          <p:nvPr/>
        </p:nvSpPr>
        <p:spPr>
          <a:xfrm>
            <a:off x="7818120" y="1664208"/>
            <a:ext cx="356616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WORKED</a:t>
            </a:r>
            <a:endParaRPr lang="en-US" sz="1250" dirty="0"/>
          </a:p>
        </p:txBody>
      </p:sp>
      <p:sp>
        <p:nvSpPr>
          <p:cNvPr id="9" name="Text 6"/>
          <p:cNvSpPr txBox="1"/>
          <p:nvPr/>
        </p:nvSpPr>
        <p:spPr>
          <a:xfrm>
            <a:off x="7818120" y="2011680"/>
            <a:ext cx="3566160" cy="13716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Per-domain standardisation — uses no labels, +0.014 on prototypes</a:t>
            </a:r>
            <a:endParaRPr lang="en-US" sz="1250" dirty="0"/>
          </a:p>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Blending those prototypes toward Madrid's — a further +0.024</a:t>
            </a:r>
            <a:endParaRPr lang="en-US" sz="1250" dirty="0"/>
          </a:p>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Learning the regressor's cut points instead of assuming them — +0.203</a:t>
            </a:r>
            <a:endParaRPr lang="en-US" sz="1250" dirty="0"/>
          </a:p>
        </p:txBody>
      </p:sp>
      <p:sp>
        <p:nvSpPr>
          <p:cNvPr id="10" name="Shape 7"/>
          <p:cNvSpPr/>
          <p:nvPr/>
        </p:nvSpPr>
        <p:spPr>
          <a:xfrm>
            <a:off x="7498080" y="3703320"/>
            <a:ext cx="4142232" cy="2395728"/>
          </a:xfrm>
          <a:prstGeom prst="roundRect">
            <a:avLst>
              <a:gd name="adj" fmla="val 1908"/>
            </a:avLst>
          </a:prstGeom>
          <a:solidFill>
            <a:srgbClr val="F7F0E7"/>
          </a:solidFill>
          <a:ln w="9525">
            <a:solidFill>
              <a:srgbClr val="F7F0E7"/>
            </a:solidFill>
            <a:prstDash val="solid"/>
          </a:ln>
        </p:spPr>
      </p:sp>
      <p:sp>
        <p:nvSpPr>
          <p:cNvPr id="11" name="Text 8"/>
          <p:cNvSpPr txBox="1"/>
          <p:nvPr/>
        </p:nvSpPr>
        <p:spPr>
          <a:xfrm>
            <a:off x="7818120" y="3886200"/>
            <a:ext cx="3566160" cy="274320"/>
          </a:xfrm>
          <a:prstGeom prst="rect">
            <a:avLst/>
          </a:prstGeom>
          <a:noFill/>
          <a:ln/>
        </p:spPr>
        <p:txBody>
          <a:bodyPr wrap="square" lIns="0" tIns="0" rIns="0" bIns="0" rtlCol="0" anchor="ctr"/>
          <a:lstStyle/>
          <a:p>
            <a:pPr marL="0" indent="0">
              <a:buNone/>
            </a:pPr>
            <a:r>
              <a:rPr lang="en-US" sz="1250" b="1" kern="0" spc="160" dirty="0">
                <a:solidFill>
                  <a:srgbClr val="7C4A21"/>
                </a:solidFill>
                <a:latin typeface="Times New Roman" pitchFamily="34" charset="0"/>
                <a:ea typeface="Times New Roman" pitchFamily="34" charset="-122"/>
                <a:cs typeface="Times New Roman" pitchFamily="34" charset="-120"/>
              </a:rPr>
              <a:t>DID NOT WORK</a:t>
            </a:r>
            <a:endParaRPr lang="en-US" sz="1250" dirty="0"/>
          </a:p>
        </p:txBody>
      </p:sp>
      <p:sp>
        <p:nvSpPr>
          <p:cNvPr id="12" name="Text 9"/>
          <p:cNvSpPr txBox="1"/>
          <p:nvPr/>
        </p:nvSpPr>
        <p:spPr>
          <a:xfrm>
            <a:off x="7818120" y="4224528"/>
            <a:ext cx="3566160" cy="178308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4443E"/>
                </a:solidFill>
                <a:latin typeface="Times New Roman" pitchFamily="34" charset="0"/>
                <a:ea typeface="Times New Roman" pitchFamily="34" charset="-122"/>
                <a:cs typeface="Times New Roman" pitchFamily="34" charset="-120"/>
              </a:rPr>
              <a:t>Madrid's LDA directions — 0.4627, worse than no projection at all</a:t>
            </a:r>
            <a:endParaRPr lang="en-US" sz="1200" dirty="0"/>
          </a:p>
          <a:p>
            <a:pPr marL="342900" indent="-342900">
              <a:spcAft>
                <a:spcPts val="500"/>
              </a:spcAft>
              <a:buSzPct val="100000"/>
              <a:buChar char="•"/>
            </a:pPr>
            <a:r>
              <a:rPr lang="en-US" sz="1200" dirty="0">
                <a:solidFill>
                  <a:srgbClr val="44443E"/>
                </a:solidFill>
                <a:latin typeface="Times New Roman" pitchFamily="34" charset="0"/>
                <a:ea typeface="Times New Roman" pitchFamily="34" charset="-122"/>
                <a:cs typeface="Times New Roman" pitchFamily="34" charset="-120"/>
              </a:rPr>
              <a:t>Metric learning in the CNN embedding — 0.4993, and it was the suggested approach</a:t>
            </a:r>
            <a:endParaRPr lang="en-US" sz="1200" dirty="0"/>
          </a:p>
          <a:p>
            <a:pPr marL="342900" indent="-342900">
              <a:spcAft>
                <a:spcPts val="500"/>
              </a:spcAft>
              <a:buSzPct val="100000"/>
              <a:buChar char="•"/>
            </a:pPr>
            <a:r>
              <a:rPr lang="en-US" sz="1200" dirty="0">
                <a:solidFill>
                  <a:srgbClr val="44443E"/>
                </a:solidFill>
                <a:latin typeface="Times New Roman" pitchFamily="34" charset="0"/>
                <a:ea typeface="Times New Roman" pitchFamily="34" charset="-122"/>
                <a:cs typeface="Times New Roman" pitchFamily="34" charset="-120"/>
              </a:rPr>
              <a:t>Regression then Madrid's fixed bins — 0.2988. The regressor's 1st percentile is 1947; Amsterdam's is 1882, so 29% of the city is unreachable</a:t>
            </a:r>
            <a:endParaRPr lang="en-US" sz="1200" dirty="0"/>
          </a:p>
        </p:txBody>
      </p:sp>
      <p:sp>
        <p:nvSpPr>
          <p:cNvPr id="13" name="Text 10"/>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Three label draws per method. The CNN-embedding value is its ten-draw mean (0.4993); its three-draw screen value is 0.5120.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10</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What transfers between cities, and what does not</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Three independent experiments, all pointing the same way.</a:t>
            </a:r>
            <a:endParaRPr lang="en-US" sz="1450" dirty="0"/>
          </a:p>
        </p:txBody>
      </p:sp>
      <p:sp>
        <p:nvSpPr>
          <p:cNvPr id="6" name="Shape 4"/>
          <p:cNvSpPr/>
          <p:nvPr/>
        </p:nvSpPr>
        <p:spPr>
          <a:xfrm>
            <a:off x="548640" y="1508760"/>
            <a:ext cx="5394960" cy="3566160"/>
          </a:xfrm>
          <a:prstGeom prst="roundRect">
            <a:avLst>
              <a:gd name="adj" fmla="val 1282"/>
            </a:avLst>
          </a:prstGeom>
          <a:solidFill>
            <a:srgbClr val="F7F0E7"/>
          </a:solidFill>
          <a:ln w="9525">
            <a:solidFill>
              <a:srgbClr val="F7F0E7"/>
            </a:solidFill>
            <a:prstDash val="solid"/>
          </a:ln>
        </p:spPr>
      </p:sp>
      <p:sp>
        <p:nvSpPr>
          <p:cNvPr id="7" name="Text 5"/>
          <p:cNvSpPr txBox="1"/>
          <p:nvPr/>
        </p:nvSpPr>
        <p:spPr>
          <a:xfrm>
            <a:off x="914400" y="1755648"/>
            <a:ext cx="4663440" cy="384048"/>
          </a:xfrm>
          <a:prstGeom prst="rect">
            <a:avLst/>
          </a:prstGeom>
          <a:noFill/>
          <a:ln/>
        </p:spPr>
        <p:txBody>
          <a:bodyPr wrap="square" lIns="0" tIns="0" rIns="0" bIns="0" rtlCol="0" anchor="ctr"/>
          <a:lstStyle/>
          <a:p>
            <a:pPr marL="0" indent="0">
              <a:buNone/>
            </a:pPr>
            <a:r>
              <a:rPr lang="en-US" sz="2200" b="1" dirty="0">
                <a:solidFill>
                  <a:srgbClr val="1C1C1A"/>
                </a:solidFill>
                <a:latin typeface="Times New Roman" pitchFamily="34" charset="0"/>
                <a:ea typeface="Times New Roman" pitchFamily="34" charset="-122"/>
                <a:cs typeface="Times New Roman" pitchFamily="34" charset="-120"/>
              </a:rPr>
              <a:t>Class geometry</a:t>
            </a:r>
            <a:endParaRPr lang="en-US" sz="2200" dirty="0"/>
          </a:p>
        </p:txBody>
      </p:sp>
      <p:sp>
        <p:nvSpPr>
          <p:cNvPr id="8" name="Text 6"/>
          <p:cNvSpPr txBox="1"/>
          <p:nvPr/>
        </p:nvSpPr>
        <p:spPr>
          <a:xfrm>
            <a:off x="914400" y="2139696"/>
            <a:ext cx="4663440" cy="329184"/>
          </a:xfrm>
          <a:prstGeom prst="rect">
            <a:avLst/>
          </a:prstGeom>
          <a:noFill/>
          <a:ln/>
        </p:spPr>
        <p:txBody>
          <a:bodyPr wrap="square" lIns="0" tIns="0" rIns="0" bIns="0" rtlCol="0" anchor="ctr"/>
          <a:lstStyle/>
          <a:p>
            <a:pPr marL="0" indent="0">
              <a:buNone/>
            </a:pPr>
            <a:r>
              <a:rPr lang="en-US" sz="1500" b="1" dirty="0">
                <a:solidFill>
                  <a:srgbClr val="7C4A21"/>
                </a:solidFill>
                <a:latin typeface="Times New Roman" pitchFamily="34" charset="0"/>
                <a:ea typeface="Times New Roman" pitchFamily="34" charset="-122"/>
                <a:cs typeface="Times New Roman" pitchFamily="34" charset="-120"/>
              </a:rPr>
              <a:t>does not transfer</a:t>
            </a:r>
            <a:endParaRPr lang="en-US" sz="1500" dirty="0"/>
          </a:p>
        </p:txBody>
      </p:sp>
      <p:sp>
        <p:nvSpPr>
          <p:cNvPr id="9" name="Shape 7"/>
          <p:cNvSpPr/>
          <p:nvPr/>
        </p:nvSpPr>
        <p:spPr>
          <a:xfrm>
            <a:off x="914400" y="2606040"/>
            <a:ext cx="2240280" cy="914400"/>
          </a:xfrm>
          <a:prstGeom prst="roundRect">
            <a:avLst>
              <a:gd name="adj" fmla="val 5000"/>
            </a:avLst>
          </a:prstGeom>
          <a:solidFill>
            <a:srgbClr val="FFFFFF"/>
          </a:solidFill>
          <a:ln w="9525">
            <a:solidFill>
              <a:srgbClr val="FFFFFF"/>
            </a:solidFill>
            <a:prstDash val="solid"/>
          </a:ln>
        </p:spPr>
      </p:sp>
      <p:sp>
        <p:nvSpPr>
          <p:cNvPr id="10" name="Text 8"/>
          <p:cNvSpPr txBox="1"/>
          <p:nvPr/>
        </p:nvSpPr>
        <p:spPr>
          <a:xfrm>
            <a:off x="1005840" y="2651760"/>
            <a:ext cx="2057400" cy="822960"/>
          </a:xfrm>
          <a:prstGeom prst="rect">
            <a:avLst/>
          </a:prstGeom>
          <a:noFill/>
          <a:ln/>
        </p:spPr>
        <p:txBody>
          <a:bodyPr wrap="square" lIns="0" tIns="0" rIns="0" bIns="0" rtlCol="0" anchor="ctr"/>
          <a:lstStyle/>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Madrid LDA directions</a:t>
            </a:r>
            <a:endParaRPr lang="en-US" sz="1250" dirty="0"/>
          </a:p>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0.4627</a:t>
            </a:r>
            <a:endParaRPr lang="en-US" sz="1250" dirty="0"/>
          </a:p>
        </p:txBody>
      </p:sp>
      <p:sp>
        <p:nvSpPr>
          <p:cNvPr id="11" name="Shape 9"/>
          <p:cNvSpPr/>
          <p:nvPr/>
        </p:nvSpPr>
        <p:spPr>
          <a:xfrm>
            <a:off x="3337560" y="2606040"/>
            <a:ext cx="2240280" cy="914400"/>
          </a:xfrm>
          <a:prstGeom prst="roundRect">
            <a:avLst>
              <a:gd name="adj" fmla="val 5000"/>
            </a:avLst>
          </a:prstGeom>
          <a:solidFill>
            <a:srgbClr val="FFFFFF"/>
          </a:solidFill>
          <a:ln w="9525">
            <a:solidFill>
              <a:srgbClr val="FFFFFF"/>
            </a:solidFill>
            <a:prstDash val="solid"/>
          </a:ln>
        </p:spPr>
      </p:sp>
      <p:sp>
        <p:nvSpPr>
          <p:cNvPr id="12" name="Text 10"/>
          <p:cNvSpPr txBox="1"/>
          <p:nvPr/>
        </p:nvSpPr>
        <p:spPr>
          <a:xfrm>
            <a:off x="3429000" y="2651760"/>
            <a:ext cx="2057400" cy="822960"/>
          </a:xfrm>
          <a:prstGeom prst="rect">
            <a:avLst/>
          </a:prstGeom>
          <a:noFill/>
          <a:ln/>
        </p:spPr>
        <p:txBody>
          <a:bodyPr wrap="square" lIns="0" tIns="0" rIns="0" bIns="0" rtlCol="0" anchor="ctr"/>
          <a:lstStyle/>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CNN learned embedding</a:t>
            </a:r>
            <a:endParaRPr lang="en-US" sz="1250" dirty="0"/>
          </a:p>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0.4993</a:t>
            </a:r>
            <a:endParaRPr lang="en-US" sz="1250" dirty="0"/>
          </a:p>
        </p:txBody>
      </p:sp>
      <p:sp>
        <p:nvSpPr>
          <p:cNvPr id="13" name="Text 11"/>
          <p:cNvSpPr txBox="1"/>
          <p:nvPr/>
        </p:nvSpPr>
        <p:spPr>
          <a:xfrm>
            <a:off x="914400" y="3547872"/>
            <a:ext cx="4663440" cy="1371600"/>
          </a:xfrm>
          <a:prstGeom prst="rect">
            <a:avLst/>
          </a:prstGeom>
          <a:noFill/>
          <a:ln/>
        </p:spPr>
        <p:txBody>
          <a:bodyPr wrap="square" lIns="0" tIns="0" rIns="0" bIns="0" rtlCol="0" anchor="ctr"/>
          <a:lstStyle/>
          <a:p>
            <a:pPr marL="0" indent="0">
              <a:lnSpc>
                <a:spcPts val="1900"/>
              </a:lnSpc>
              <a:buNone/>
            </a:pPr>
            <a:r>
              <a:rPr lang="en-US" sz="1300" dirty="0">
                <a:solidFill>
                  <a:srgbClr val="44443E"/>
                </a:solidFill>
                <a:latin typeface="Times New Roman" pitchFamily="34" charset="0"/>
                <a:ea typeface="Times New Roman" pitchFamily="34" charset="-122"/>
                <a:cs typeface="Times New Roman" pitchFamily="34" charset="-120"/>
              </a:rPr>
              <a:t>Any structure learned from Madrid's classes is a structure that is specifically Madrid's. Both import it; both lose to doing nothing.</a:t>
            </a:r>
            <a:endParaRPr lang="en-US" sz="1300" dirty="0"/>
          </a:p>
        </p:txBody>
      </p:sp>
      <p:sp>
        <p:nvSpPr>
          <p:cNvPr id="14" name="Shape 12"/>
          <p:cNvSpPr/>
          <p:nvPr/>
        </p:nvSpPr>
        <p:spPr>
          <a:xfrm>
            <a:off x="6245352" y="1508760"/>
            <a:ext cx="5394960" cy="3566160"/>
          </a:xfrm>
          <a:prstGeom prst="roundRect">
            <a:avLst>
              <a:gd name="adj" fmla="val 1282"/>
            </a:avLst>
          </a:prstGeom>
          <a:solidFill>
            <a:srgbClr val="EBF2EF"/>
          </a:solidFill>
          <a:ln w="9525">
            <a:solidFill>
              <a:srgbClr val="EBF2EF"/>
            </a:solidFill>
            <a:prstDash val="solid"/>
          </a:ln>
        </p:spPr>
      </p:sp>
      <p:sp>
        <p:nvSpPr>
          <p:cNvPr id="15" name="Text 13"/>
          <p:cNvSpPr txBox="1"/>
          <p:nvPr/>
        </p:nvSpPr>
        <p:spPr>
          <a:xfrm>
            <a:off x="6611112" y="1755648"/>
            <a:ext cx="4663440" cy="384048"/>
          </a:xfrm>
          <a:prstGeom prst="rect">
            <a:avLst/>
          </a:prstGeom>
          <a:noFill/>
          <a:ln/>
        </p:spPr>
        <p:txBody>
          <a:bodyPr wrap="square" lIns="0" tIns="0" rIns="0" bIns="0" rtlCol="0" anchor="ctr"/>
          <a:lstStyle/>
          <a:p>
            <a:pPr marL="0" indent="0">
              <a:buNone/>
            </a:pPr>
            <a:r>
              <a:rPr lang="en-US" sz="2200" b="1" dirty="0">
                <a:solidFill>
                  <a:srgbClr val="1C1C1A"/>
                </a:solidFill>
                <a:latin typeface="Times New Roman" pitchFamily="34" charset="0"/>
                <a:ea typeface="Times New Roman" pitchFamily="34" charset="-122"/>
                <a:cs typeface="Times New Roman" pitchFamily="34" charset="-120"/>
              </a:rPr>
              <a:t>Class locations</a:t>
            </a:r>
            <a:endParaRPr lang="en-US" sz="2200" dirty="0"/>
          </a:p>
        </p:txBody>
      </p:sp>
      <p:sp>
        <p:nvSpPr>
          <p:cNvPr id="16" name="Text 14"/>
          <p:cNvSpPr txBox="1"/>
          <p:nvPr/>
        </p:nvSpPr>
        <p:spPr>
          <a:xfrm>
            <a:off x="6611112" y="2139696"/>
            <a:ext cx="4663440" cy="329184"/>
          </a:xfrm>
          <a:prstGeom prst="rect">
            <a:avLst/>
          </a:prstGeom>
          <a:noFill/>
          <a:ln/>
        </p:spPr>
        <p:txBody>
          <a:bodyPr wrap="square" lIns="0" tIns="0" rIns="0" bIns="0" rtlCol="0" anchor="ctr"/>
          <a:lstStyle/>
          <a:p>
            <a:pPr marL="0" indent="0">
              <a:buNone/>
            </a:pPr>
            <a:r>
              <a:rPr lang="en-US" sz="1500" b="1" dirty="0">
                <a:solidFill>
                  <a:srgbClr val="1F4E3D"/>
                </a:solidFill>
                <a:latin typeface="Times New Roman" pitchFamily="34" charset="0"/>
                <a:ea typeface="Times New Roman" pitchFamily="34" charset="-122"/>
                <a:cs typeface="Times New Roman" pitchFamily="34" charset="-120"/>
              </a:rPr>
              <a:t>do transfer</a:t>
            </a:r>
            <a:endParaRPr lang="en-US" sz="1500" dirty="0"/>
          </a:p>
        </p:txBody>
      </p:sp>
      <p:sp>
        <p:nvSpPr>
          <p:cNvPr id="17" name="Shape 15"/>
          <p:cNvSpPr/>
          <p:nvPr/>
        </p:nvSpPr>
        <p:spPr>
          <a:xfrm>
            <a:off x="6611112" y="2606040"/>
            <a:ext cx="2240280" cy="914400"/>
          </a:xfrm>
          <a:prstGeom prst="roundRect">
            <a:avLst>
              <a:gd name="adj" fmla="val 5000"/>
            </a:avLst>
          </a:prstGeom>
          <a:solidFill>
            <a:srgbClr val="FFFFFF"/>
          </a:solidFill>
          <a:ln w="9525">
            <a:solidFill>
              <a:srgbClr val="FFFFFF"/>
            </a:solidFill>
            <a:prstDash val="solid"/>
          </a:ln>
        </p:spPr>
      </p:sp>
      <p:sp>
        <p:nvSpPr>
          <p:cNvPr id="18" name="Text 16"/>
          <p:cNvSpPr txBox="1"/>
          <p:nvPr/>
        </p:nvSpPr>
        <p:spPr>
          <a:xfrm>
            <a:off x="6702552" y="2651760"/>
            <a:ext cx="2057400" cy="822960"/>
          </a:xfrm>
          <a:prstGeom prst="rect">
            <a:avLst/>
          </a:prstGeom>
          <a:noFill/>
          <a:ln/>
        </p:spPr>
        <p:txBody>
          <a:bodyPr wrap="square" lIns="0" tIns="0" rIns="0" bIns="0" rtlCol="0" anchor="ctr"/>
          <a:lstStyle/>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Amsterdam centres alone</a:t>
            </a:r>
            <a:endParaRPr lang="en-US" sz="1250" dirty="0"/>
          </a:p>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0.5400</a:t>
            </a:r>
            <a:endParaRPr lang="en-US" sz="1250" dirty="0"/>
          </a:p>
        </p:txBody>
      </p:sp>
      <p:sp>
        <p:nvSpPr>
          <p:cNvPr id="19" name="Shape 17"/>
          <p:cNvSpPr/>
          <p:nvPr/>
        </p:nvSpPr>
        <p:spPr>
          <a:xfrm>
            <a:off x="9034272" y="2606040"/>
            <a:ext cx="2240280" cy="914400"/>
          </a:xfrm>
          <a:prstGeom prst="roundRect">
            <a:avLst>
              <a:gd name="adj" fmla="val 5000"/>
            </a:avLst>
          </a:prstGeom>
          <a:solidFill>
            <a:srgbClr val="FFFFFF"/>
          </a:solidFill>
          <a:ln w="9525">
            <a:solidFill>
              <a:srgbClr val="FFFFFF"/>
            </a:solidFill>
            <a:prstDash val="solid"/>
          </a:ln>
        </p:spPr>
      </p:sp>
      <p:sp>
        <p:nvSpPr>
          <p:cNvPr id="20" name="Text 18"/>
          <p:cNvSpPr txBox="1"/>
          <p:nvPr/>
        </p:nvSpPr>
        <p:spPr>
          <a:xfrm>
            <a:off x="9125712" y="2651760"/>
            <a:ext cx="2057400" cy="822960"/>
          </a:xfrm>
          <a:prstGeom prst="rect">
            <a:avLst/>
          </a:prstGeom>
          <a:noFill/>
          <a:ln/>
        </p:spPr>
        <p:txBody>
          <a:bodyPr wrap="square" lIns="0" tIns="0" rIns="0" bIns="0" rtlCol="0" anchor="ctr"/>
          <a:lstStyle/>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Blended with Madrid's</a:t>
            </a:r>
            <a:endParaRPr lang="en-US" sz="1250" dirty="0"/>
          </a:p>
          <a:p>
            <a:pPr marL="0" indent="0" algn="ctr">
              <a:lnSpc>
                <a:spcPts val="1700"/>
              </a:lnSpc>
              <a:buNone/>
            </a:pPr>
            <a:r>
              <a:rPr lang="en-US" sz="1250" dirty="0">
                <a:solidFill>
                  <a:srgbClr val="1C1C1A"/>
                </a:solidFill>
                <a:latin typeface="Times New Roman" pitchFamily="34" charset="0"/>
                <a:ea typeface="Times New Roman" pitchFamily="34" charset="-122"/>
                <a:cs typeface="Times New Roman" pitchFamily="34" charset="-120"/>
              </a:rPr>
              <a:t>0.5643</a:t>
            </a:r>
            <a:endParaRPr lang="en-US" sz="1250" dirty="0"/>
          </a:p>
        </p:txBody>
      </p:sp>
      <p:sp>
        <p:nvSpPr>
          <p:cNvPr id="21" name="Text 19"/>
          <p:cNvSpPr txBox="1"/>
          <p:nvPr/>
        </p:nvSpPr>
        <p:spPr>
          <a:xfrm>
            <a:off x="6611112" y="3547872"/>
            <a:ext cx="4663440" cy="1371600"/>
          </a:xfrm>
          <a:prstGeom prst="rect">
            <a:avLst/>
          </a:prstGeom>
          <a:noFill/>
          <a:ln/>
        </p:spPr>
        <p:txBody>
          <a:bodyPr wrap="square" lIns="0" tIns="0" rIns="0" bIns="0" rtlCol="0" anchor="ctr"/>
          <a:lstStyle/>
          <a:p>
            <a:pPr marL="0" indent="0">
              <a:lnSpc>
                <a:spcPts val="1900"/>
              </a:lnSpc>
              <a:buNone/>
            </a:pPr>
            <a:r>
              <a:rPr lang="en-US" sz="1300" dirty="0">
                <a:solidFill>
                  <a:srgbClr val="44443E"/>
                </a:solidFill>
                <a:latin typeface="Times New Roman" pitchFamily="34" charset="0"/>
                <a:ea typeface="Times New Roman" pitchFamily="34" charset="-122"/>
                <a:cs typeface="Times New Roman" pitchFamily="34" charset="-120"/>
              </a:rPr>
              <a:t>Where the classes sit is a fact about building age. Borrowing it as a prior stabilises a noisy 25-label estimate.</a:t>
            </a:r>
            <a:endParaRPr lang="en-US" sz="1300" dirty="0"/>
          </a:p>
        </p:txBody>
      </p:sp>
      <p:sp>
        <p:nvSpPr>
          <p:cNvPr id="22" name="Shape 20"/>
          <p:cNvSpPr/>
          <p:nvPr/>
        </p:nvSpPr>
        <p:spPr>
          <a:xfrm>
            <a:off x="548640" y="5413248"/>
            <a:ext cx="11091672" cy="868680"/>
          </a:xfrm>
          <a:prstGeom prst="roundRect">
            <a:avLst>
              <a:gd name="adj" fmla="val 5263"/>
            </a:avLst>
          </a:prstGeom>
          <a:solidFill>
            <a:srgbClr val="1F4E3D"/>
          </a:solidFill>
          <a:ln w="9525">
            <a:solidFill>
              <a:srgbClr val="1F4E3D"/>
            </a:solidFill>
            <a:prstDash val="solid"/>
          </a:ln>
        </p:spPr>
      </p:sp>
      <p:sp>
        <p:nvSpPr>
          <p:cNvPr id="23" name="Text 21"/>
          <p:cNvSpPr txBox="1"/>
          <p:nvPr/>
        </p:nvSpPr>
        <p:spPr>
          <a:xfrm>
            <a:off x="914400" y="5504688"/>
            <a:ext cx="10332720" cy="685800"/>
          </a:xfrm>
          <a:prstGeom prst="rect">
            <a:avLst/>
          </a:prstGeom>
          <a:noFill/>
          <a:ln/>
        </p:spPr>
        <p:txBody>
          <a:bodyPr wrap="square" lIns="0" tIns="0" rIns="0" bIns="0" rtlCol="0" anchor="ctr"/>
          <a:lstStyle/>
          <a:p>
            <a:pPr marL="0" indent="0">
              <a:buNone/>
            </a:pPr>
            <a:r>
              <a:rPr lang="en-US" sz="1450" dirty="0">
                <a:solidFill>
                  <a:srgbClr val="FFFFFF"/>
                </a:solidFill>
                <a:latin typeface="Times New Roman" pitchFamily="34" charset="0"/>
                <a:ea typeface="Times New Roman" pitchFamily="34" charset="-122"/>
                <a:cs typeface="Times New Roman" pitchFamily="34" charset="-120"/>
              </a:rPr>
              <a:t>The method follows from the finding: standardise per city, so no geometry is imported, then blend the local prototypes with Madrid's, so the locations are.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11</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The better source model is the worse transfer model</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Notebook 06. We built the 1D-CNN rather than arguing about it.</a:t>
            </a:r>
            <a:endParaRPr lang="en-US" sz="1450" dirty="0"/>
          </a:p>
        </p:txBody>
      </p:sp>
      <p:pic>
        <p:nvPicPr>
          <p:cNvPr id="6" name="Image 0" descr="/home/claude/deck_assets/fig_four_curve.png"/>
          <p:cNvPicPr>
            <a:picLocks noChangeAspect="1"/>
          </p:cNvPicPr>
          <p:nvPr/>
        </p:nvPicPr>
        <p:blipFill>
          <a:blip r:embed="rId3"/>
          <a:stretch>
            <a:fillRect/>
          </a:stretch>
        </p:blipFill>
        <p:spPr>
          <a:xfrm>
            <a:off x="548640" y="1417320"/>
            <a:ext cx="7863840" cy="4434840"/>
          </a:xfrm>
          <a:prstGeom prst="rect">
            <a:avLst/>
          </a:prstGeom>
        </p:spPr>
      </p:pic>
      <p:sp>
        <p:nvSpPr>
          <p:cNvPr id="7" name="Shape 4"/>
          <p:cNvSpPr/>
          <p:nvPr/>
        </p:nvSpPr>
        <p:spPr>
          <a:xfrm>
            <a:off x="8732520" y="1536192"/>
            <a:ext cx="2907792" cy="2103120"/>
          </a:xfrm>
          <a:prstGeom prst="roundRect">
            <a:avLst>
              <a:gd name="adj" fmla="val 2174"/>
            </a:avLst>
          </a:prstGeom>
          <a:solidFill>
            <a:srgbClr val="F7F0E7"/>
          </a:solidFill>
          <a:ln w="9525">
            <a:solidFill>
              <a:srgbClr val="F7F0E7"/>
            </a:solidFill>
            <a:prstDash val="solid"/>
          </a:ln>
        </p:spPr>
      </p:sp>
      <p:sp>
        <p:nvSpPr>
          <p:cNvPr id="8" name="Text 5"/>
          <p:cNvSpPr txBox="1"/>
          <p:nvPr/>
        </p:nvSpPr>
        <p:spPr>
          <a:xfrm>
            <a:off x="9006840" y="1719072"/>
            <a:ext cx="2423160" cy="292608"/>
          </a:xfrm>
          <a:prstGeom prst="rect">
            <a:avLst/>
          </a:prstGeom>
          <a:noFill/>
          <a:ln/>
        </p:spPr>
        <p:txBody>
          <a:bodyPr wrap="square" lIns="0" tIns="0" rIns="0" bIns="0" rtlCol="0" anchor="ctr"/>
          <a:lstStyle/>
          <a:p>
            <a:pPr marL="0" indent="0">
              <a:buNone/>
            </a:pPr>
            <a:r>
              <a:rPr lang="en-US" sz="1300" b="1" dirty="0">
                <a:solidFill>
                  <a:srgbClr val="7C4A21"/>
                </a:solidFill>
                <a:latin typeface="Times New Roman" pitchFamily="34" charset="0"/>
                <a:ea typeface="Times New Roman" pitchFamily="34" charset="-122"/>
                <a:cs typeface="Times New Roman" pitchFamily="34" charset="-120"/>
              </a:rPr>
              <a:t>What the CNN bought</a:t>
            </a:r>
            <a:endParaRPr lang="en-US" sz="1300" dirty="0"/>
          </a:p>
        </p:txBody>
      </p:sp>
      <p:sp>
        <p:nvSpPr>
          <p:cNvPr id="9" name="Text 6"/>
          <p:cNvSpPr txBox="1"/>
          <p:nvPr/>
        </p:nvSpPr>
        <p:spPr>
          <a:xfrm>
            <a:off x="9006840" y="2084832"/>
            <a:ext cx="2423160" cy="141732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+0.050 on Madrid. A 22,084-parameter network free to learn any temporal filter it likes, and every filter it learns is a Madrid filter.</a:t>
            </a:r>
            <a:endParaRPr lang="en-US" sz="1250" dirty="0"/>
          </a:p>
        </p:txBody>
      </p:sp>
      <p:sp>
        <p:nvSpPr>
          <p:cNvPr id="10" name="Shape 7"/>
          <p:cNvSpPr/>
          <p:nvPr/>
        </p:nvSpPr>
        <p:spPr>
          <a:xfrm>
            <a:off x="8732520" y="3840480"/>
            <a:ext cx="2907792" cy="2103120"/>
          </a:xfrm>
          <a:prstGeom prst="roundRect">
            <a:avLst>
              <a:gd name="adj" fmla="val 2174"/>
            </a:avLst>
          </a:prstGeom>
          <a:solidFill>
            <a:srgbClr val="EBF2EF"/>
          </a:solidFill>
          <a:ln w="9525">
            <a:solidFill>
              <a:srgbClr val="EBF2EF"/>
            </a:solidFill>
            <a:prstDash val="solid"/>
          </a:ln>
        </p:spPr>
      </p:sp>
      <p:sp>
        <p:nvSpPr>
          <p:cNvPr id="11" name="Text 8"/>
          <p:cNvSpPr txBox="1"/>
          <p:nvPr/>
        </p:nvSpPr>
        <p:spPr>
          <a:xfrm>
            <a:off x="9006840" y="4023360"/>
            <a:ext cx="2423160" cy="292608"/>
          </a:xfrm>
          <a:prstGeom prst="rect">
            <a:avLst/>
          </a:prstGeom>
          <a:noFill/>
          <a:ln/>
        </p:spPr>
        <p:txBody>
          <a:bodyPr wrap="square" lIns="0" tIns="0" rIns="0" bIns="0" rtlCol="0" anchor="ctr"/>
          <a:lstStyle/>
          <a:p>
            <a:pPr marL="0" indent="0">
              <a:buNone/>
            </a:pPr>
            <a:r>
              <a:rPr lang="en-US" sz="1300" b="1" dirty="0">
                <a:solidFill>
                  <a:srgbClr val="1F4E3D"/>
                </a:solidFill>
                <a:latin typeface="Times New Roman" pitchFamily="34" charset="0"/>
                <a:ea typeface="Times New Roman" pitchFamily="34" charset="-122"/>
                <a:cs typeface="Times New Roman" pitchFamily="34" charset="-120"/>
              </a:rPr>
              <a:t>What it cost</a:t>
            </a:r>
            <a:endParaRPr lang="en-US" sz="1300" dirty="0"/>
          </a:p>
        </p:txBody>
      </p:sp>
      <p:sp>
        <p:nvSpPr>
          <p:cNvPr id="12" name="Text 9"/>
          <p:cNvSpPr txBox="1"/>
          <p:nvPr/>
        </p:nvSpPr>
        <p:spPr>
          <a:xfrm>
            <a:off x="9006840" y="4389120"/>
            <a:ext cx="2423160" cy="1417320"/>
          </a:xfrm>
          <a:prstGeom prst="rect">
            <a:avLst/>
          </a:prstGeom>
          <a:noFill/>
          <a:ln/>
        </p:spPr>
        <p:txBody>
          <a:bodyPr wrap="square" lIns="0" tIns="0" rIns="0" bIns="0" rtlCol="0" anchor="ctr"/>
          <a:lstStyle/>
          <a:p>
            <a:pPr marL="0" indent="0">
              <a:lnSpc>
                <a:spcPts val="1700"/>
              </a:lnSpc>
              <a:buNone/>
            </a:pPr>
            <a:r>
              <a:rPr lang="en-US" sz="1250" dirty="0">
                <a:solidFill>
                  <a:srgbClr val="44443E"/>
                </a:solidFill>
                <a:latin typeface="Times New Roman" pitchFamily="34" charset="0"/>
                <a:ea typeface="Times New Roman" pitchFamily="34" charset="-122"/>
                <a:cs typeface="Times New Roman" pitchFamily="34" charset="-120"/>
              </a:rPr>
              <a:t>It loses at every budget, and retains 81.6% of its Madrid score against our 96.8%. Representational freedom is paid for in generalisation.</a:t>
            </a:r>
            <a:endParaRPr lang="en-US" sz="1250" dirty="0"/>
          </a:p>
        </p:txBody>
      </p:sp>
      <p:sp>
        <p:nvSpPr>
          <p:cNvPr id="13" name="Text 10"/>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The Madrid CNN figure comes from a single spatial holdout rather than five folds, so treat the source gap as approximate. The Amsterdam comparison is exact: same evaluation pixels, same seeds.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12</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Where the errors are, and what we would do next</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Blended prototypes, 25 labels per class — the low-data prize condition.</a:t>
            </a:r>
            <a:endParaRPr lang="en-US" sz="1450" dirty="0"/>
          </a:p>
        </p:txBody>
      </p:sp>
      <p:pic>
        <p:nvPicPr>
          <p:cNvPr id="6" name="Image 0" descr="/home/claude/deck_assets/fig_recall.png"/>
          <p:cNvPicPr>
            <a:picLocks noChangeAspect="1"/>
          </p:cNvPicPr>
          <p:nvPr/>
        </p:nvPicPr>
        <p:blipFill>
          <a:blip r:embed="rId3"/>
          <a:stretch>
            <a:fillRect/>
          </a:stretch>
        </p:blipFill>
        <p:spPr>
          <a:xfrm>
            <a:off x="548640" y="1463040"/>
            <a:ext cx="6492240" cy="4206240"/>
          </a:xfrm>
          <a:prstGeom prst="rect">
            <a:avLst/>
          </a:prstGeom>
        </p:spPr>
      </p:pic>
      <p:sp>
        <p:nvSpPr>
          <p:cNvPr id="7" name="Shape 4"/>
          <p:cNvSpPr/>
          <p:nvPr/>
        </p:nvSpPr>
        <p:spPr>
          <a:xfrm>
            <a:off x="7315200" y="1508760"/>
            <a:ext cx="4325112" cy="2148840"/>
          </a:xfrm>
          <a:prstGeom prst="roundRect">
            <a:avLst>
              <a:gd name="adj" fmla="val 2128"/>
            </a:avLst>
          </a:prstGeom>
          <a:solidFill>
            <a:srgbClr val="F5F5F2"/>
          </a:solidFill>
          <a:ln w="9525">
            <a:solidFill>
              <a:srgbClr val="F5F5F2"/>
            </a:solidFill>
            <a:prstDash val="solid"/>
          </a:ln>
        </p:spPr>
      </p:sp>
      <p:sp>
        <p:nvSpPr>
          <p:cNvPr id="8" name="Text 5"/>
          <p:cNvSpPr txBox="1"/>
          <p:nvPr/>
        </p:nvSpPr>
        <p:spPr>
          <a:xfrm>
            <a:off x="7635240" y="1719072"/>
            <a:ext cx="3749040" cy="274320"/>
          </a:xfrm>
          <a:prstGeom prst="rect">
            <a:avLst/>
          </a:prstGeom>
          <a:noFill/>
          <a:ln/>
        </p:spPr>
        <p:txBody>
          <a:bodyPr wrap="square" lIns="0" tIns="0" rIns="0" bIns="0" rtlCol="0" anchor="ctr"/>
          <a:lstStyle/>
          <a:p>
            <a:pPr marL="0" indent="0">
              <a:buNone/>
            </a:pPr>
            <a:r>
              <a:rPr lang="en-US" sz="1250" b="1" kern="0" spc="160" dirty="0">
                <a:solidFill>
                  <a:srgbClr val="1C1C1A"/>
                </a:solidFill>
                <a:latin typeface="Times New Roman" pitchFamily="34" charset="0"/>
                <a:ea typeface="Times New Roman" pitchFamily="34" charset="-122"/>
                <a:cs typeface="Times New Roman" pitchFamily="34" charset="-120"/>
              </a:rPr>
              <a:t>THE HARD PAIR</a:t>
            </a:r>
            <a:endParaRPr lang="en-US" sz="1250" dirty="0"/>
          </a:p>
        </p:txBody>
      </p:sp>
      <p:sp>
        <p:nvSpPr>
          <p:cNvPr id="9" name="Text 6"/>
          <p:cNvSpPr txBox="1"/>
          <p:nvPr/>
        </p:nvSpPr>
        <p:spPr>
          <a:xfrm>
            <a:off x="7635240" y="2084832"/>
            <a:ext cx="3749040" cy="1463040"/>
          </a:xfrm>
          <a:prstGeom prst="rect">
            <a:avLst/>
          </a:prstGeom>
          <a:noFill/>
          <a:ln/>
        </p:spPr>
        <p:txBody>
          <a:bodyPr wrap="square" lIns="0" tIns="0" rIns="0" bIns="0" rtlCol="0" anchor="ctr"/>
          <a:lstStyle/>
          <a:p>
            <a:pPr marL="0" indent="0">
              <a:lnSpc>
                <a:spcPts val="1800"/>
              </a:lnSpc>
              <a:buNone/>
            </a:pPr>
            <a:r>
              <a:rPr lang="en-US" sz="1300" dirty="0">
                <a:solidFill>
                  <a:srgbClr val="44443E"/>
                </a:solidFill>
                <a:latin typeface="Times New Roman" pitchFamily="34" charset="0"/>
                <a:ea typeface="Times New Roman" pitchFamily="34" charset="-122"/>
                <a:cs typeface="Times New Roman" pitchFamily="34" charset="-120"/>
              </a:rPr>
              <a:t>Classes 2 and 3 — 1945–1984 and 1984–2004 — recall 0.496 and 0.475. Post-war and late-modern construction are spectrally similar from orbit, and that boundary is the one place a 30 m pixel genuinely cannot resolve.</a:t>
            </a:r>
            <a:endParaRPr lang="en-US" sz="1300" dirty="0"/>
          </a:p>
        </p:txBody>
      </p:sp>
      <p:sp>
        <p:nvSpPr>
          <p:cNvPr id="10" name="Shape 7"/>
          <p:cNvSpPr/>
          <p:nvPr/>
        </p:nvSpPr>
        <p:spPr>
          <a:xfrm>
            <a:off x="7315200" y="3886200"/>
            <a:ext cx="4325112" cy="2103120"/>
          </a:xfrm>
          <a:prstGeom prst="roundRect">
            <a:avLst>
              <a:gd name="adj" fmla="val 2174"/>
            </a:avLst>
          </a:prstGeom>
          <a:solidFill>
            <a:srgbClr val="EBF2EF"/>
          </a:solidFill>
          <a:ln w="9525">
            <a:solidFill>
              <a:srgbClr val="EBF2EF"/>
            </a:solidFill>
            <a:prstDash val="solid"/>
          </a:ln>
        </p:spPr>
      </p:sp>
      <p:sp>
        <p:nvSpPr>
          <p:cNvPr id="11" name="Text 8"/>
          <p:cNvSpPr txBox="1"/>
          <p:nvPr/>
        </p:nvSpPr>
        <p:spPr>
          <a:xfrm>
            <a:off x="7635240" y="4096512"/>
            <a:ext cx="374904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WHERE WE WOULD GO NEXT</a:t>
            </a:r>
            <a:endParaRPr lang="en-US" sz="1250" dirty="0"/>
          </a:p>
        </p:txBody>
      </p:sp>
      <p:sp>
        <p:nvSpPr>
          <p:cNvPr id="12" name="Text 9"/>
          <p:cNvSpPr txBox="1"/>
          <p:nvPr/>
        </p:nvSpPr>
        <p:spPr>
          <a:xfrm>
            <a:off x="7635240" y="4443984"/>
            <a:ext cx="3749040" cy="146304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Spatial context — a pixel's neighbours carry age information it does not</a:t>
            </a:r>
            <a:endParaRPr lang="en-US" sz="1250" dirty="0"/>
          </a:p>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Ordinal loss — confusing class 2 with 3 should cost less than with 4</a:t>
            </a:r>
            <a:endParaRPr lang="en-US" sz="1250" dirty="0"/>
          </a:p>
          <a:p>
            <a:pPr marL="342900" indent="-342900">
              <a:spcAft>
                <a:spcPts val="500"/>
              </a:spcAft>
              <a:buSzPct val="100000"/>
              <a:buChar char="•"/>
            </a:pPr>
            <a:r>
              <a:rPr lang="en-US" sz="1250" dirty="0">
                <a:solidFill>
                  <a:srgbClr val="44443E"/>
                </a:solidFill>
                <a:latin typeface="Times New Roman" pitchFamily="34" charset="0"/>
                <a:ea typeface="Times New Roman" pitchFamily="34" charset="-122"/>
                <a:cs typeface="Times New Roman" pitchFamily="34" charset="-120"/>
              </a:rPr>
              <a:t>A third city, to test whether the finding is general or a Madrid–Amsterdam artefact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566928"/>
            <a:ext cx="5486400" cy="274320"/>
          </a:xfrm>
          <a:prstGeom prst="rect">
            <a:avLst/>
          </a:prstGeom>
          <a:noFill/>
          <a:ln/>
        </p:spPr>
        <p:txBody>
          <a:bodyPr wrap="square" lIns="0" tIns="0" rIns="0" bIns="0" rtlCol="0" anchor="ctr"/>
          <a:lstStyle/>
          <a:p>
            <a:pPr marL="0" indent="0">
              <a:buNone/>
            </a:pPr>
            <a:r>
              <a:rPr lang="en-US" sz="1250" b="1" kern="0" spc="200" dirty="0">
                <a:solidFill>
                  <a:srgbClr val="7C4A21"/>
                </a:solidFill>
                <a:latin typeface="Times New Roman" pitchFamily="34" charset="0"/>
                <a:ea typeface="Times New Roman" pitchFamily="34" charset="-122"/>
                <a:cs typeface="Times New Roman" pitchFamily="34" charset="-120"/>
              </a:rPr>
              <a:t>CONCLUSION</a:t>
            </a:r>
            <a:endParaRPr lang="en-US" sz="1250" dirty="0"/>
          </a:p>
        </p:txBody>
      </p:sp>
      <p:sp>
        <p:nvSpPr>
          <p:cNvPr id="3" name="Text 1"/>
          <p:cNvSpPr txBox="1"/>
          <p:nvPr/>
        </p:nvSpPr>
        <p:spPr>
          <a:xfrm>
            <a:off x="594360" y="960120"/>
            <a:ext cx="6766560" cy="1188720"/>
          </a:xfrm>
          <a:prstGeom prst="rect">
            <a:avLst/>
          </a:prstGeom>
          <a:noFill/>
          <a:ln/>
        </p:spPr>
        <p:txBody>
          <a:bodyPr wrap="square" lIns="0" tIns="0" rIns="0" bIns="0" rtlCol="0" anchor="ctr"/>
          <a:lstStyle/>
          <a:p>
            <a:pPr marL="0" indent="0">
              <a:lnSpc>
                <a:spcPts val="3900"/>
              </a:lnSpc>
              <a:buNone/>
            </a:pPr>
            <a:r>
              <a:rPr lang="en-US" sz="3100" b="1" dirty="0">
                <a:solidFill>
                  <a:srgbClr val="1F4E3D"/>
                </a:solidFill>
                <a:latin typeface="Times New Roman" pitchFamily="34" charset="0"/>
                <a:ea typeface="Times New Roman" pitchFamily="34" charset="-122"/>
                <a:cs typeface="Times New Roman" pitchFamily="34" charset="-120"/>
              </a:rPr>
              <a:t>A city-portable recipe, and a reason to believe it ports.</a:t>
            </a:r>
            <a:endParaRPr lang="en-US" sz="3100" dirty="0"/>
          </a:p>
        </p:txBody>
      </p:sp>
      <p:sp>
        <p:nvSpPr>
          <p:cNvPr id="4" name="Text 2"/>
          <p:cNvSpPr txBox="1"/>
          <p:nvPr/>
        </p:nvSpPr>
        <p:spPr>
          <a:xfrm>
            <a:off x="594360" y="2286000"/>
            <a:ext cx="6766560" cy="1371600"/>
          </a:xfrm>
          <a:prstGeom prst="rect">
            <a:avLst/>
          </a:prstGeom>
          <a:noFill/>
          <a:ln/>
        </p:spPr>
        <p:txBody>
          <a:bodyPr wrap="square" lIns="0" tIns="0" rIns="0" bIns="0" rtlCol="0" anchor="ctr"/>
          <a:lstStyle/>
          <a:p>
            <a:pPr marL="0" indent="0">
              <a:lnSpc>
                <a:spcPts val="2400"/>
              </a:lnSpc>
              <a:buNone/>
            </a:pPr>
            <a:r>
              <a:rPr lang="en-US" sz="1500" dirty="0">
                <a:solidFill>
                  <a:srgbClr val="44443E"/>
                </a:solidFill>
                <a:latin typeface="Times New Roman" pitchFamily="34" charset="0"/>
                <a:ea typeface="Times New Roman" pitchFamily="34" charset="-122"/>
                <a:cs typeface="Times New Roman" pitchFamily="34" charset="-120"/>
              </a:rPr>
              <a:t>The two-city setup is a proxy for deploying in any city with minimal local labelling. Our result says what to carry across and what to leave behind: carry the class locations, re-learn the geometry locally. That recipe does not depend on Madrid or Amsterdam.</a:t>
            </a:r>
            <a:endParaRPr lang="en-US" sz="1500" dirty="0"/>
          </a:p>
        </p:txBody>
      </p:sp>
      <p:sp>
        <p:nvSpPr>
          <p:cNvPr id="5" name="Shape 3"/>
          <p:cNvSpPr/>
          <p:nvPr/>
        </p:nvSpPr>
        <p:spPr>
          <a:xfrm>
            <a:off x="621792" y="3694176"/>
            <a:ext cx="256032" cy="256032"/>
          </a:xfrm>
          <a:prstGeom prst="ellipse">
            <a:avLst/>
          </a:prstGeom>
          <a:solidFill>
            <a:srgbClr val="1F4E3D"/>
          </a:solidFill>
          <a:ln/>
        </p:spPr>
      </p:sp>
      <p:sp>
        <p:nvSpPr>
          <p:cNvPr id="6" name="Text 4"/>
          <p:cNvSpPr txBox="1"/>
          <p:nvPr/>
        </p:nvSpPr>
        <p:spPr>
          <a:xfrm>
            <a:off x="1051560" y="3611880"/>
            <a:ext cx="2377440" cy="411480"/>
          </a:xfrm>
          <a:prstGeom prst="rect">
            <a:avLst/>
          </a:prstGeom>
          <a:noFill/>
          <a:ln/>
        </p:spPr>
        <p:txBody>
          <a:bodyPr wrap="square" lIns="0" tIns="0" rIns="0" bIns="0" rtlCol="0" anchor="ctr"/>
          <a:lstStyle/>
          <a:p>
            <a:pPr marL="0" indent="0">
              <a:buNone/>
            </a:pPr>
            <a:r>
              <a:rPr lang="en-US" sz="1350" b="1" dirty="0">
                <a:solidFill>
                  <a:srgbClr val="1C1C1A"/>
                </a:solidFill>
                <a:latin typeface="Times New Roman" pitchFamily="34" charset="0"/>
                <a:ea typeface="Times New Roman" pitchFamily="34" charset="-122"/>
                <a:cs typeface="Times New Roman" pitchFamily="34" charset="-120"/>
              </a:rPr>
              <a:t>Stage 1 model</a:t>
            </a:r>
            <a:endParaRPr lang="en-US" sz="1350" dirty="0"/>
          </a:p>
        </p:txBody>
      </p:sp>
      <p:sp>
        <p:nvSpPr>
          <p:cNvPr id="7" name="Text 5"/>
          <p:cNvSpPr txBox="1"/>
          <p:nvPr/>
        </p:nvSpPr>
        <p:spPr>
          <a:xfrm>
            <a:off x="3474720" y="3611880"/>
            <a:ext cx="3931920" cy="411480"/>
          </a:xfrm>
          <a:prstGeom prst="rect">
            <a:avLst/>
          </a:prstGeom>
          <a:noFill/>
          <a:ln/>
        </p:spPr>
        <p:txBody>
          <a:bodyPr wrap="square" lIns="0" tIns="0" rIns="0" bIns="0" rtlCol="0" anchor="ctr"/>
          <a:lstStyle/>
          <a:p>
            <a:pPr marL="0" indent="0">
              <a:buNone/>
            </a:pPr>
            <a:r>
              <a:rPr lang="en-US" sz="1250" dirty="0">
                <a:solidFill>
                  <a:srgbClr val="44443E"/>
                </a:solidFill>
                <a:latin typeface="Times New Roman" pitchFamily="34" charset="0"/>
                <a:ea typeface="Times New Roman" pitchFamily="34" charset="-122"/>
                <a:cs typeface="Times New Roman" pitchFamily="34" charset="-120"/>
              </a:rPr>
              <a:t>Class-balanced random forest, 0.5954 ± 0.0138</a:t>
            </a:r>
            <a:endParaRPr lang="en-US" sz="1250" dirty="0"/>
          </a:p>
        </p:txBody>
      </p:sp>
      <p:sp>
        <p:nvSpPr>
          <p:cNvPr id="8" name="Shape 6"/>
          <p:cNvSpPr/>
          <p:nvPr/>
        </p:nvSpPr>
        <p:spPr>
          <a:xfrm>
            <a:off x="621792" y="4261104"/>
            <a:ext cx="256032" cy="256032"/>
          </a:xfrm>
          <a:prstGeom prst="ellipse">
            <a:avLst/>
          </a:prstGeom>
          <a:solidFill>
            <a:srgbClr val="1F4E3D"/>
          </a:solidFill>
          <a:ln/>
        </p:spPr>
      </p:sp>
      <p:sp>
        <p:nvSpPr>
          <p:cNvPr id="9" name="Text 7"/>
          <p:cNvSpPr txBox="1"/>
          <p:nvPr/>
        </p:nvSpPr>
        <p:spPr>
          <a:xfrm>
            <a:off x="1051560" y="4178808"/>
            <a:ext cx="2377440" cy="411480"/>
          </a:xfrm>
          <a:prstGeom prst="rect">
            <a:avLst/>
          </a:prstGeom>
          <a:noFill/>
          <a:ln/>
        </p:spPr>
        <p:txBody>
          <a:bodyPr wrap="square" lIns="0" tIns="0" rIns="0" bIns="0" rtlCol="0" anchor="ctr"/>
          <a:lstStyle/>
          <a:p>
            <a:pPr marL="0" indent="0">
              <a:buNone/>
            </a:pPr>
            <a:r>
              <a:rPr lang="en-US" sz="1350" b="1" dirty="0">
                <a:solidFill>
                  <a:srgbClr val="1C1C1A"/>
                </a:solidFill>
                <a:latin typeface="Times New Roman" pitchFamily="34" charset="0"/>
                <a:ea typeface="Times New Roman" pitchFamily="34" charset="-122"/>
                <a:cs typeface="Times New Roman" pitchFamily="34" charset="-120"/>
              </a:rPr>
              <a:t>Training code</a:t>
            </a:r>
            <a:endParaRPr lang="en-US" sz="1350" dirty="0"/>
          </a:p>
        </p:txBody>
      </p:sp>
      <p:sp>
        <p:nvSpPr>
          <p:cNvPr id="10" name="Text 8"/>
          <p:cNvSpPr txBox="1"/>
          <p:nvPr/>
        </p:nvSpPr>
        <p:spPr>
          <a:xfrm>
            <a:off x="3474720" y="4178808"/>
            <a:ext cx="3931920" cy="411480"/>
          </a:xfrm>
          <a:prstGeom prst="rect">
            <a:avLst/>
          </a:prstGeom>
          <a:noFill/>
          <a:ln/>
        </p:spPr>
        <p:txBody>
          <a:bodyPr wrap="square" lIns="0" tIns="0" rIns="0" bIns="0" rtlCol="0" anchor="ctr"/>
          <a:lstStyle/>
          <a:p>
            <a:pPr marL="0" indent="0">
              <a:buNone/>
            </a:pPr>
            <a:r>
              <a:rPr lang="en-US" sz="1250" dirty="0">
                <a:solidFill>
                  <a:srgbClr val="44443E"/>
                </a:solidFill>
                <a:latin typeface="Times New Roman" pitchFamily="34" charset="0"/>
                <a:ea typeface="Times New Roman" pitchFamily="34" charset="-122"/>
                <a:cs typeface="Times New Roman" pitchFamily="34" charset="-120"/>
              </a:rPr>
              <a:t>adapt_and_predict(), n parameterised, fixed seed</a:t>
            </a:r>
            <a:endParaRPr lang="en-US" sz="1250" dirty="0"/>
          </a:p>
        </p:txBody>
      </p:sp>
      <p:sp>
        <p:nvSpPr>
          <p:cNvPr id="11" name="Shape 9"/>
          <p:cNvSpPr/>
          <p:nvPr/>
        </p:nvSpPr>
        <p:spPr>
          <a:xfrm>
            <a:off x="621792" y="4828032"/>
            <a:ext cx="256032" cy="256032"/>
          </a:xfrm>
          <a:prstGeom prst="ellipse">
            <a:avLst/>
          </a:prstGeom>
          <a:solidFill>
            <a:srgbClr val="1F4E3D"/>
          </a:solidFill>
          <a:ln/>
        </p:spPr>
      </p:sp>
      <p:sp>
        <p:nvSpPr>
          <p:cNvPr id="12" name="Text 10"/>
          <p:cNvSpPr txBox="1"/>
          <p:nvPr/>
        </p:nvSpPr>
        <p:spPr>
          <a:xfrm>
            <a:off x="1051560" y="4745736"/>
            <a:ext cx="2377440" cy="411480"/>
          </a:xfrm>
          <a:prstGeom prst="rect">
            <a:avLst/>
          </a:prstGeom>
          <a:noFill/>
          <a:ln/>
        </p:spPr>
        <p:txBody>
          <a:bodyPr wrap="square" lIns="0" tIns="0" rIns="0" bIns="0" rtlCol="0" anchor="ctr"/>
          <a:lstStyle/>
          <a:p>
            <a:pPr marL="0" indent="0">
              <a:buNone/>
            </a:pPr>
            <a:r>
              <a:rPr lang="en-US" sz="1350" b="1" dirty="0">
                <a:solidFill>
                  <a:srgbClr val="1C1C1A"/>
                </a:solidFill>
                <a:latin typeface="Times New Roman" pitchFamily="34" charset="0"/>
                <a:ea typeface="Times New Roman" pitchFamily="34" charset="-122"/>
                <a:cs typeface="Times New Roman" pitchFamily="34" charset="-120"/>
              </a:rPr>
              <a:t>This deck</a:t>
            </a:r>
            <a:endParaRPr lang="en-US" sz="1350" dirty="0"/>
          </a:p>
        </p:txBody>
      </p:sp>
      <p:sp>
        <p:nvSpPr>
          <p:cNvPr id="13" name="Text 11"/>
          <p:cNvSpPr txBox="1"/>
          <p:nvPr/>
        </p:nvSpPr>
        <p:spPr>
          <a:xfrm>
            <a:off x="3474720" y="4745736"/>
            <a:ext cx="3931920" cy="411480"/>
          </a:xfrm>
          <a:prstGeom prst="rect">
            <a:avLst/>
          </a:prstGeom>
          <a:noFill/>
          <a:ln/>
        </p:spPr>
        <p:txBody>
          <a:bodyPr wrap="square" lIns="0" tIns="0" rIns="0" bIns="0" rtlCol="0" anchor="ctr"/>
          <a:lstStyle/>
          <a:p>
            <a:pPr marL="0" indent="0">
              <a:buNone/>
            </a:pPr>
            <a:r>
              <a:rPr lang="en-US" sz="1250" dirty="0">
                <a:solidFill>
                  <a:srgbClr val="44443E"/>
                </a:solidFill>
                <a:latin typeface="Times New Roman" pitchFamily="34" charset="0"/>
                <a:ea typeface="Times New Roman" pitchFamily="34" charset="-122"/>
                <a:cs typeface="Times New Roman" pitchFamily="34" charset="-120"/>
              </a:rPr>
              <a:t>abstract, decisions, required table and required plot</a:t>
            </a:r>
            <a:endParaRPr lang="en-US" sz="1250" dirty="0"/>
          </a:p>
        </p:txBody>
      </p:sp>
      <p:sp>
        <p:nvSpPr>
          <p:cNvPr id="14" name="Shape 12"/>
          <p:cNvSpPr/>
          <p:nvPr/>
        </p:nvSpPr>
        <p:spPr>
          <a:xfrm>
            <a:off x="621792" y="5394960"/>
            <a:ext cx="256032" cy="256032"/>
          </a:xfrm>
          <a:prstGeom prst="ellipse">
            <a:avLst/>
          </a:prstGeom>
          <a:solidFill>
            <a:srgbClr val="1F4E3D"/>
          </a:solidFill>
          <a:ln/>
        </p:spPr>
      </p:sp>
      <p:sp>
        <p:nvSpPr>
          <p:cNvPr id="15" name="Text 13"/>
          <p:cNvSpPr txBox="1"/>
          <p:nvPr/>
        </p:nvSpPr>
        <p:spPr>
          <a:xfrm>
            <a:off x="1051560" y="5312664"/>
            <a:ext cx="2377440" cy="411480"/>
          </a:xfrm>
          <a:prstGeom prst="rect">
            <a:avLst/>
          </a:prstGeom>
          <a:noFill/>
          <a:ln/>
        </p:spPr>
        <p:txBody>
          <a:bodyPr wrap="square" lIns="0" tIns="0" rIns="0" bIns="0" rtlCol="0" anchor="ctr"/>
          <a:lstStyle/>
          <a:p>
            <a:pPr marL="0" indent="0">
              <a:buNone/>
            </a:pPr>
            <a:r>
              <a:rPr lang="en-US" sz="1350" b="1" dirty="0">
                <a:solidFill>
                  <a:srgbClr val="1C1C1A"/>
                </a:solidFill>
                <a:latin typeface="Times New Roman" pitchFamily="34" charset="0"/>
                <a:ea typeface="Times New Roman" pitchFamily="34" charset="-122"/>
                <a:cs typeface="Times New Roman" pitchFamily="34" charset="-120"/>
              </a:rPr>
              <a:t>Written justification</a:t>
            </a:r>
            <a:endParaRPr lang="en-US" sz="1350" dirty="0"/>
          </a:p>
        </p:txBody>
      </p:sp>
      <p:sp>
        <p:nvSpPr>
          <p:cNvPr id="16" name="Text 14"/>
          <p:cNvSpPr txBox="1"/>
          <p:nvPr/>
        </p:nvSpPr>
        <p:spPr>
          <a:xfrm>
            <a:off x="3474720" y="5312664"/>
            <a:ext cx="3931920" cy="411480"/>
          </a:xfrm>
          <a:prstGeom prst="rect">
            <a:avLst/>
          </a:prstGeom>
          <a:noFill/>
          <a:ln/>
        </p:spPr>
        <p:txBody>
          <a:bodyPr wrap="square" lIns="0" tIns="0" rIns="0" bIns="0" rtlCol="0" anchor="ctr"/>
          <a:lstStyle/>
          <a:p>
            <a:pPr marL="0" indent="0">
              <a:buNone/>
            </a:pPr>
            <a:r>
              <a:rPr lang="en-US" sz="1250" dirty="0">
                <a:solidFill>
                  <a:srgbClr val="44443E"/>
                </a:solidFill>
                <a:latin typeface="Times New Roman" pitchFamily="34" charset="0"/>
                <a:ea typeface="Times New Roman" pitchFamily="34" charset="-122"/>
                <a:cs typeface="Times New Roman" pitchFamily="34" charset="-120"/>
              </a:rPr>
              <a:t>300 words: design, transfer, interpretation</a:t>
            </a:r>
            <a:endParaRPr lang="en-US" sz="1250" dirty="0"/>
          </a:p>
        </p:txBody>
      </p:sp>
      <p:sp>
        <p:nvSpPr>
          <p:cNvPr id="17" name="Shape 15"/>
          <p:cNvSpPr/>
          <p:nvPr/>
        </p:nvSpPr>
        <p:spPr>
          <a:xfrm>
            <a:off x="7818120" y="566928"/>
            <a:ext cx="3822192" cy="5760720"/>
          </a:xfrm>
          <a:prstGeom prst="roundRect">
            <a:avLst>
              <a:gd name="adj" fmla="val 1196"/>
            </a:avLst>
          </a:prstGeom>
          <a:solidFill>
            <a:srgbClr val="EBF2EF"/>
          </a:solidFill>
          <a:ln w="9525">
            <a:solidFill>
              <a:srgbClr val="EBF2EF"/>
            </a:solidFill>
            <a:prstDash val="solid"/>
          </a:ln>
        </p:spPr>
      </p:sp>
      <p:sp>
        <p:nvSpPr>
          <p:cNvPr id="18" name="Text 16"/>
          <p:cNvSpPr txBox="1"/>
          <p:nvPr/>
        </p:nvSpPr>
        <p:spPr>
          <a:xfrm>
            <a:off x="8183880" y="841248"/>
            <a:ext cx="3108960" cy="274320"/>
          </a:xfrm>
          <a:prstGeom prst="rect">
            <a:avLst/>
          </a:prstGeom>
          <a:noFill/>
          <a:ln/>
        </p:spPr>
        <p:txBody>
          <a:bodyPr wrap="square" lIns="0" tIns="0" rIns="0" bIns="0" rtlCol="0" anchor="ctr"/>
          <a:lstStyle/>
          <a:p>
            <a:pPr marL="0" indent="0">
              <a:buNone/>
            </a:pPr>
            <a:r>
              <a:rPr lang="en-US" sz="1250" b="1" kern="0" spc="160" dirty="0">
                <a:solidFill>
                  <a:srgbClr val="1F4E3D"/>
                </a:solidFill>
                <a:latin typeface="Times New Roman" pitchFamily="34" charset="0"/>
                <a:ea typeface="Times New Roman" pitchFamily="34" charset="-122"/>
                <a:cs typeface="Times New Roman" pitchFamily="34" charset="-120"/>
              </a:rPr>
              <a:t>THE NUMBERS</a:t>
            </a:r>
            <a:endParaRPr lang="en-US" sz="1250" dirty="0"/>
          </a:p>
        </p:txBody>
      </p:sp>
      <p:sp>
        <p:nvSpPr>
          <p:cNvPr id="19" name="Text 17"/>
          <p:cNvSpPr txBox="1"/>
          <p:nvPr/>
        </p:nvSpPr>
        <p:spPr>
          <a:xfrm>
            <a:off x="8183880" y="1325880"/>
            <a:ext cx="3108960" cy="475488"/>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0.5954</a:t>
            </a:r>
            <a:endParaRPr lang="en-US" sz="2800" dirty="0"/>
          </a:p>
        </p:txBody>
      </p:sp>
      <p:sp>
        <p:nvSpPr>
          <p:cNvPr id="20" name="Text 18"/>
          <p:cNvSpPr txBox="1"/>
          <p:nvPr/>
        </p:nvSpPr>
        <p:spPr>
          <a:xfrm>
            <a:off x="8183880" y="1783080"/>
            <a:ext cx="3108960" cy="274320"/>
          </a:xfrm>
          <a:prstGeom prst="rect">
            <a:avLst/>
          </a:prstGeom>
          <a:noFill/>
          <a:ln/>
        </p:spPr>
        <p:txBody>
          <a:bodyPr wrap="square" lIns="0" tIns="0" rIns="0" bIns="0" rtlCol="0" anchor="ctr"/>
          <a:lstStyle/>
          <a:p>
            <a:pPr marL="0" indent="0">
              <a:buNone/>
            </a:pPr>
            <a:r>
              <a:rPr lang="en-US" sz="1300" b="1" dirty="0">
                <a:solidFill>
                  <a:srgbClr val="1C1C1A"/>
                </a:solidFill>
                <a:latin typeface="Times New Roman" pitchFamily="34" charset="0"/>
                <a:ea typeface="Times New Roman" pitchFamily="34" charset="-122"/>
                <a:cs typeface="Times New Roman" pitchFamily="34" charset="-120"/>
              </a:rPr>
              <a:t>Madrid macro F1</a:t>
            </a:r>
            <a:endParaRPr lang="en-US" sz="1300" dirty="0"/>
          </a:p>
        </p:txBody>
      </p:sp>
      <p:sp>
        <p:nvSpPr>
          <p:cNvPr id="21" name="Text 19"/>
          <p:cNvSpPr txBox="1"/>
          <p:nvPr/>
        </p:nvSpPr>
        <p:spPr>
          <a:xfrm>
            <a:off x="8183880" y="2057400"/>
            <a:ext cx="3108960" cy="274320"/>
          </a:xfrm>
          <a:prstGeom prst="rect">
            <a:avLst/>
          </a:prstGeom>
          <a:noFill/>
          <a:ln/>
        </p:spPr>
        <p:txBody>
          <a:bodyPr wrap="square" lIns="0" tIns="0" rIns="0" bIns="0" rtlCol="0" anchor="ctr"/>
          <a:lstStyle/>
          <a:p>
            <a:pPr marL="0" indent="0">
              <a:buNone/>
            </a:pPr>
            <a:r>
              <a:rPr lang="en-US" sz="1150" dirty="0">
                <a:solidFill>
                  <a:srgbClr val="76766D"/>
                </a:solidFill>
                <a:latin typeface="Times New Roman" pitchFamily="34" charset="0"/>
                <a:ea typeface="Times New Roman" pitchFamily="34" charset="-122"/>
                <a:cs typeface="Times New Roman" pitchFamily="34" charset="-120"/>
              </a:rPr>
              <a:t>just below the baseline, harder split</a:t>
            </a:r>
            <a:endParaRPr lang="en-US" sz="1150" dirty="0"/>
          </a:p>
        </p:txBody>
      </p:sp>
      <p:sp>
        <p:nvSpPr>
          <p:cNvPr id="22" name="Text 20"/>
          <p:cNvSpPr txBox="1"/>
          <p:nvPr/>
        </p:nvSpPr>
        <p:spPr>
          <a:xfrm>
            <a:off x="8183880" y="2569464"/>
            <a:ext cx="3108960" cy="475488"/>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0.4553</a:t>
            </a:r>
            <a:endParaRPr lang="en-US" sz="2800" dirty="0"/>
          </a:p>
        </p:txBody>
      </p:sp>
      <p:sp>
        <p:nvSpPr>
          <p:cNvPr id="23" name="Text 21"/>
          <p:cNvSpPr txBox="1"/>
          <p:nvPr/>
        </p:nvSpPr>
        <p:spPr>
          <a:xfrm>
            <a:off x="8183880" y="3026664"/>
            <a:ext cx="3108960" cy="274320"/>
          </a:xfrm>
          <a:prstGeom prst="rect">
            <a:avLst/>
          </a:prstGeom>
          <a:noFill/>
          <a:ln/>
        </p:spPr>
        <p:txBody>
          <a:bodyPr wrap="square" lIns="0" tIns="0" rIns="0" bIns="0" rtlCol="0" anchor="ctr"/>
          <a:lstStyle/>
          <a:p>
            <a:pPr marL="0" indent="0">
              <a:buNone/>
            </a:pPr>
            <a:r>
              <a:rPr lang="en-US" sz="1300" b="1" dirty="0">
                <a:solidFill>
                  <a:srgbClr val="1C1C1A"/>
                </a:solidFill>
                <a:latin typeface="Times New Roman" pitchFamily="34" charset="0"/>
                <a:ea typeface="Times New Roman" pitchFamily="34" charset="-122"/>
                <a:cs typeface="Times New Roman" pitchFamily="34" charset="-120"/>
              </a:rPr>
              <a:t>Amsterdam zero-shot</a:t>
            </a:r>
            <a:endParaRPr lang="en-US" sz="1300" dirty="0"/>
          </a:p>
        </p:txBody>
      </p:sp>
      <p:sp>
        <p:nvSpPr>
          <p:cNvPr id="24" name="Text 22"/>
          <p:cNvSpPr txBox="1"/>
          <p:nvPr/>
        </p:nvSpPr>
        <p:spPr>
          <a:xfrm>
            <a:off x="8183880" y="3300984"/>
            <a:ext cx="3108960" cy="274320"/>
          </a:xfrm>
          <a:prstGeom prst="rect">
            <a:avLst/>
          </a:prstGeom>
          <a:noFill/>
          <a:ln/>
        </p:spPr>
        <p:txBody>
          <a:bodyPr wrap="square" lIns="0" tIns="0" rIns="0" bIns="0" rtlCol="0" anchor="ctr"/>
          <a:lstStyle/>
          <a:p>
            <a:pPr marL="0" indent="0">
              <a:buNone/>
            </a:pPr>
            <a:r>
              <a:rPr lang="en-US" sz="1150" dirty="0">
                <a:solidFill>
                  <a:srgbClr val="76766D"/>
                </a:solidFill>
                <a:latin typeface="Times New Roman" pitchFamily="34" charset="0"/>
                <a:ea typeface="Times New Roman" pitchFamily="34" charset="-122"/>
                <a:cs typeface="Times New Roman" pitchFamily="34" charset="-120"/>
              </a:rPr>
              <a:t>against the baseline's 0.3427</a:t>
            </a:r>
            <a:endParaRPr lang="en-US" sz="1150" dirty="0"/>
          </a:p>
        </p:txBody>
      </p:sp>
      <p:sp>
        <p:nvSpPr>
          <p:cNvPr id="25" name="Text 23"/>
          <p:cNvSpPr txBox="1"/>
          <p:nvPr/>
        </p:nvSpPr>
        <p:spPr>
          <a:xfrm>
            <a:off x="8183880" y="3813048"/>
            <a:ext cx="3108960" cy="475488"/>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0.5605</a:t>
            </a:r>
            <a:endParaRPr lang="en-US" sz="2800" dirty="0"/>
          </a:p>
        </p:txBody>
      </p:sp>
      <p:sp>
        <p:nvSpPr>
          <p:cNvPr id="26" name="Text 24"/>
          <p:cNvSpPr txBox="1"/>
          <p:nvPr/>
        </p:nvSpPr>
        <p:spPr>
          <a:xfrm>
            <a:off x="8183880" y="4270248"/>
            <a:ext cx="3108960" cy="274320"/>
          </a:xfrm>
          <a:prstGeom prst="rect">
            <a:avLst/>
          </a:prstGeom>
          <a:noFill/>
          <a:ln/>
        </p:spPr>
        <p:txBody>
          <a:bodyPr wrap="square" lIns="0" tIns="0" rIns="0" bIns="0" rtlCol="0" anchor="ctr"/>
          <a:lstStyle/>
          <a:p>
            <a:pPr marL="0" indent="0">
              <a:buNone/>
            </a:pPr>
            <a:r>
              <a:rPr lang="en-US" sz="1300" b="1" dirty="0">
                <a:solidFill>
                  <a:srgbClr val="1C1C1A"/>
                </a:solidFill>
                <a:latin typeface="Times New Roman" pitchFamily="34" charset="0"/>
                <a:ea typeface="Times New Roman" pitchFamily="34" charset="-122"/>
                <a:cs typeface="Times New Roman" pitchFamily="34" charset="-120"/>
              </a:rPr>
              <a:t>Amsterdam, 25 labels</a:t>
            </a:r>
            <a:endParaRPr lang="en-US" sz="1300" dirty="0"/>
          </a:p>
        </p:txBody>
      </p:sp>
      <p:sp>
        <p:nvSpPr>
          <p:cNvPr id="27" name="Text 25"/>
          <p:cNvSpPr txBox="1"/>
          <p:nvPr/>
        </p:nvSpPr>
        <p:spPr>
          <a:xfrm>
            <a:off x="8183880" y="4544568"/>
            <a:ext cx="3108960" cy="274320"/>
          </a:xfrm>
          <a:prstGeom prst="rect">
            <a:avLst/>
          </a:prstGeom>
          <a:noFill/>
          <a:ln/>
        </p:spPr>
        <p:txBody>
          <a:bodyPr wrap="square" lIns="0" tIns="0" rIns="0" bIns="0" rtlCol="0" anchor="ctr"/>
          <a:lstStyle/>
          <a:p>
            <a:pPr marL="0" indent="0">
              <a:buNone/>
            </a:pPr>
            <a:r>
              <a:rPr lang="en-US" sz="1150" dirty="0">
                <a:solidFill>
                  <a:srgbClr val="76766D"/>
                </a:solidFill>
                <a:latin typeface="Times New Roman" pitchFamily="34" charset="0"/>
                <a:ea typeface="Times New Roman" pitchFamily="34" charset="-122"/>
                <a:cs typeface="Times New Roman" pitchFamily="34" charset="-120"/>
              </a:rPr>
              <a:t>the low-data prize condition</a:t>
            </a:r>
            <a:endParaRPr lang="en-US" sz="1150" dirty="0"/>
          </a:p>
        </p:txBody>
      </p:sp>
      <p:sp>
        <p:nvSpPr>
          <p:cNvPr id="28" name="Text 26"/>
          <p:cNvSpPr txBox="1"/>
          <p:nvPr/>
        </p:nvSpPr>
        <p:spPr>
          <a:xfrm>
            <a:off x="8183880" y="5056632"/>
            <a:ext cx="3108960" cy="475488"/>
          </a:xfrm>
          <a:prstGeom prst="rect">
            <a:avLst/>
          </a:prstGeom>
          <a:noFill/>
          <a:ln/>
        </p:spPr>
        <p:txBody>
          <a:bodyPr wrap="square" lIns="0" tIns="0" rIns="0" bIns="0" rtlCol="0" anchor="ctr"/>
          <a:lstStyle/>
          <a:p>
            <a:pPr marL="0" indent="0">
              <a:buNone/>
            </a:pPr>
            <a:r>
              <a:rPr lang="en-US" sz="2800" b="1" dirty="0">
                <a:solidFill>
                  <a:srgbClr val="7C4A21"/>
                </a:solidFill>
                <a:latin typeface="Times New Roman" pitchFamily="34" charset="0"/>
                <a:ea typeface="Times New Roman" pitchFamily="34" charset="-122"/>
                <a:cs typeface="Times New Roman" pitchFamily="34" charset="-120"/>
              </a:rPr>
              <a:t>+0.039</a:t>
            </a:r>
            <a:endParaRPr lang="en-US" sz="2800" dirty="0"/>
          </a:p>
        </p:txBody>
      </p:sp>
      <p:sp>
        <p:nvSpPr>
          <p:cNvPr id="29" name="Text 27"/>
          <p:cNvSpPr txBox="1"/>
          <p:nvPr/>
        </p:nvSpPr>
        <p:spPr>
          <a:xfrm>
            <a:off x="8183880" y="5513832"/>
            <a:ext cx="3108960" cy="274320"/>
          </a:xfrm>
          <a:prstGeom prst="rect">
            <a:avLst/>
          </a:prstGeom>
          <a:noFill/>
          <a:ln/>
        </p:spPr>
        <p:txBody>
          <a:bodyPr wrap="square" lIns="0" tIns="0" rIns="0" bIns="0" rtlCol="0" anchor="ctr"/>
          <a:lstStyle/>
          <a:p>
            <a:pPr marL="0" indent="0">
              <a:buNone/>
            </a:pPr>
            <a:r>
              <a:rPr lang="en-US" sz="1300" b="1" dirty="0">
                <a:solidFill>
                  <a:srgbClr val="1C1C1A"/>
                </a:solidFill>
                <a:latin typeface="Times New Roman" pitchFamily="34" charset="0"/>
                <a:ea typeface="Times New Roman" pitchFamily="34" charset="-122"/>
                <a:cs typeface="Times New Roman" pitchFamily="34" charset="-120"/>
              </a:rPr>
              <a:t>over the baseline method</a:t>
            </a:r>
            <a:endParaRPr lang="en-US" sz="1300" dirty="0"/>
          </a:p>
        </p:txBody>
      </p:sp>
      <p:sp>
        <p:nvSpPr>
          <p:cNvPr id="30" name="Text 28"/>
          <p:cNvSpPr txBox="1"/>
          <p:nvPr/>
        </p:nvSpPr>
        <p:spPr>
          <a:xfrm>
            <a:off x="8183880" y="5788152"/>
            <a:ext cx="3108960" cy="274320"/>
          </a:xfrm>
          <a:prstGeom prst="rect">
            <a:avLst/>
          </a:prstGeom>
          <a:noFill/>
          <a:ln/>
        </p:spPr>
        <p:txBody>
          <a:bodyPr wrap="square" lIns="0" tIns="0" rIns="0" bIns="0" rtlCol="0" anchor="ctr"/>
          <a:lstStyle/>
          <a:p>
            <a:pPr marL="0" indent="0">
              <a:buNone/>
            </a:pPr>
            <a:r>
              <a:rPr lang="en-US" sz="1150" dirty="0">
                <a:solidFill>
                  <a:srgbClr val="76766D"/>
                </a:solidFill>
                <a:latin typeface="Times New Roman" pitchFamily="34" charset="0"/>
                <a:ea typeface="Times New Roman" pitchFamily="34" charset="-122"/>
                <a:cs typeface="Times New Roman" pitchFamily="34" charset="-120"/>
              </a:rPr>
              <a:t>same harness, every budget</a:t>
            </a:r>
            <a:endParaRPr lang="en-US" sz="1150" dirty="0"/>
          </a:p>
        </p:txBody>
      </p:sp>
      <p:sp>
        <p:nvSpPr>
          <p:cNvPr id="31" name="Text 29"/>
          <p:cNvSpPr txBox="1"/>
          <p:nvPr/>
        </p:nvSpPr>
        <p:spPr>
          <a:xfrm>
            <a:off x="594360" y="5989320"/>
            <a:ext cx="6766560" cy="274320"/>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Every figure measured in our own notebooks. Nothing estimated. Where a comparison is not like-for-like, we said so.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420624" cy="420624"/>
          </a:xfrm>
          <a:prstGeom prst="ellipse">
            <a:avLst/>
          </a:prstGeom>
          <a:solidFill>
            <a:srgbClr val="1F4E3D"/>
          </a:solidFill>
          <a:ln/>
        </p:spPr>
      </p:sp>
      <p:sp>
        <p:nvSpPr>
          <p:cNvPr id="3" name="Text 1"/>
          <p:cNvSpPr txBox="1"/>
          <p:nvPr/>
        </p:nvSpPr>
        <p:spPr>
          <a:xfrm>
            <a:off x="548640" y="3840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13</a:t>
            </a:r>
            <a:endParaRPr lang="en-US" sz="1600" dirty="0"/>
          </a:p>
        </p:txBody>
      </p:sp>
      <p:sp>
        <p:nvSpPr>
          <p:cNvPr id="4" name="Text 2"/>
          <p:cNvSpPr txBox="1"/>
          <p:nvPr/>
        </p:nvSpPr>
        <p:spPr>
          <a:xfrm>
            <a:off x="1115568" y="310896"/>
            <a:ext cx="10515600" cy="548640"/>
          </a:xfrm>
          <a:prstGeom prst="rect">
            <a:avLst/>
          </a:prstGeom>
          <a:noFill/>
          <a:ln/>
        </p:spPr>
        <p:txBody>
          <a:bodyPr wrap="square" lIns="0" tIns="0" rIns="0" bIns="0" rtlCol="0" anchor="ctr"/>
          <a:lstStyle/>
          <a:p>
            <a:pPr marL="0" indent="0">
              <a:buNone/>
            </a:pPr>
            <a:r>
              <a:rPr lang="en-US" sz="2800" b="1" dirty="0">
                <a:solidFill>
                  <a:srgbClr val="1F4E3D"/>
                </a:solidFill>
                <a:latin typeface="Times New Roman" pitchFamily="34" charset="0"/>
                <a:ea typeface="Times New Roman" pitchFamily="34" charset="-122"/>
                <a:cs typeface="Times New Roman" pitchFamily="34" charset="-120"/>
              </a:rPr>
              <a:t>Written justification</a:t>
            </a:r>
            <a:endParaRPr lang="en-US" sz="2800" dirty="0"/>
          </a:p>
        </p:txBody>
      </p:sp>
      <p:sp>
        <p:nvSpPr>
          <p:cNvPr id="5" name="Text 3"/>
          <p:cNvSpPr txBox="1"/>
          <p:nvPr/>
        </p:nvSpPr>
        <p:spPr>
          <a:xfrm>
            <a:off x="1115568" y="868680"/>
            <a:ext cx="10515600" cy="310896"/>
          </a:xfrm>
          <a:prstGeom prst="rect">
            <a:avLst/>
          </a:prstGeom>
          <a:noFill/>
          <a:ln/>
        </p:spPr>
        <p:txBody>
          <a:bodyPr wrap="square" lIns="0" tIns="0" rIns="0" bIns="0" rtlCol="0" anchor="ctr"/>
          <a:lstStyle/>
          <a:p>
            <a:pPr marL="0" indent="0">
              <a:buNone/>
            </a:pPr>
            <a:r>
              <a:rPr lang="en-US" sz="1450" dirty="0">
                <a:solidFill>
                  <a:srgbClr val="76766D"/>
                </a:solidFill>
                <a:latin typeface="Times New Roman" pitchFamily="34" charset="0"/>
                <a:ea typeface="Times New Roman" pitchFamily="34" charset="-122"/>
                <a:cs typeface="Times New Roman" pitchFamily="34" charset="-120"/>
              </a:rPr>
              <a:t>Deliverable 4. </a:t>
            </a:r>
            <a:r>
              <a:rPr lang="en-US" sz="1450">
                <a:solidFill>
                  <a:srgbClr val="76766D"/>
                </a:solidFill>
                <a:latin typeface="Times New Roman" pitchFamily="34" charset="0"/>
                <a:ea typeface="Times New Roman" pitchFamily="34" charset="-122"/>
                <a:cs typeface="Times New Roman" pitchFamily="34" charset="-120"/>
              </a:rPr>
              <a:t>Desgn</a:t>
            </a:r>
            <a:r>
              <a:rPr lang="en-US" sz="1450" dirty="0">
                <a:solidFill>
                  <a:srgbClr val="76766D"/>
                </a:solidFill>
                <a:latin typeface="Times New Roman" pitchFamily="34" charset="0"/>
                <a:ea typeface="Times New Roman" pitchFamily="34" charset="-122"/>
                <a:cs typeface="Times New Roman" pitchFamily="34" charset="-120"/>
              </a:rPr>
              <a:t>, transfer strategy and interpretation, in 298 words.</a:t>
            </a:r>
            <a:endParaRPr lang="en-US" sz="1450" dirty="0"/>
          </a:p>
        </p:txBody>
      </p:sp>
      <p:sp>
        <p:nvSpPr>
          <p:cNvPr id="6" name="Shape 4"/>
          <p:cNvSpPr/>
          <p:nvPr/>
        </p:nvSpPr>
        <p:spPr>
          <a:xfrm>
            <a:off x="548640" y="1508760"/>
            <a:ext cx="3529584" cy="4572000"/>
          </a:xfrm>
          <a:prstGeom prst="roundRect">
            <a:avLst>
              <a:gd name="adj" fmla="val 1295"/>
            </a:avLst>
          </a:prstGeom>
          <a:solidFill>
            <a:srgbClr val="EBF2EF"/>
          </a:solidFill>
          <a:ln w="9525">
            <a:solidFill>
              <a:srgbClr val="EBF2EF"/>
            </a:solidFill>
            <a:prstDash val="solid"/>
          </a:ln>
        </p:spPr>
      </p:sp>
      <p:sp>
        <p:nvSpPr>
          <p:cNvPr id="7" name="Text 5"/>
          <p:cNvSpPr txBox="1"/>
          <p:nvPr/>
        </p:nvSpPr>
        <p:spPr>
          <a:xfrm>
            <a:off x="841248" y="1719072"/>
            <a:ext cx="2971800" cy="274320"/>
          </a:xfrm>
          <a:prstGeom prst="rect">
            <a:avLst/>
          </a:prstGeom>
          <a:noFill/>
          <a:ln/>
        </p:spPr>
        <p:txBody>
          <a:bodyPr wrap="square" lIns="0" tIns="0" rIns="0" bIns="0" rtlCol="0" anchor="ctr"/>
          <a:lstStyle/>
          <a:p>
            <a:pPr marL="0" indent="0">
              <a:buNone/>
            </a:pPr>
            <a:r>
              <a:rPr lang="en-US" sz="1200" b="1" kern="0" spc="160" dirty="0">
                <a:solidFill>
                  <a:srgbClr val="1F4E3D"/>
                </a:solidFill>
                <a:latin typeface="Times New Roman" pitchFamily="34" charset="0"/>
                <a:ea typeface="Times New Roman" pitchFamily="34" charset="-122"/>
                <a:cs typeface="Times New Roman" pitchFamily="34" charset="-120"/>
              </a:rPr>
              <a:t>MODEL DESIGN</a:t>
            </a:r>
            <a:endParaRPr lang="en-US" sz="1200" dirty="0"/>
          </a:p>
        </p:txBody>
      </p:sp>
      <p:sp>
        <p:nvSpPr>
          <p:cNvPr id="8" name="Text 6"/>
          <p:cNvSpPr txBox="1"/>
          <p:nvPr/>
        </p:nvSpPr>
        <p:spPr>
          <a:xfrm>
            <a:off x="841248" y="2103120"/>
            <a:ext cx="2971800" cy="3840480"/>
          </a:xfrm>
          <a:prstGeom prst="rect">
            <a:avLst/>
          </a:prstGeom>
          <a:noFill/>
          <a:ln/>
        </p:spPr>
        <p:txBody>
          <a:bodyPr wrap="square" lIns="0" tIns="0" rIns="0" bIns="0" rtlCol="0" anchor="t"/>
          <a:lstStyle/>
          <a:p>
            <a:pPr marL="0" indent="0">
              <a:lnSpc>
                <a:spcPts val="1600"/>
              </a:lnSpc>
              <a:buNone/>
            </a:pPr>
            <a:r>
              <a:rPr lang="en-US" sz="1150" dirty="0">
                <a:solidFill>
                  <a:srgbClr val="44443E"/>
                </a:solidFill>
                <a:latin typeface="Times New Roman" pitchFamily="34" charset="0"/>
                <a:ea typeface="Times New Roman" pitchFamily="34" charset="-122"/>
                <a:cs typeface="Times New Roman" pitchFamily="34" charset="-120"/>
              </a:rPr>
              <a:t>We treat the task as domain adaptation rather than classification. From 42 years of Landsat spectra we build 81 features in five groups — absolute level (18), series shape (30), change (12), spectral indices (20), metadata (1) — tagged by expected transfer behaviour before any model was fitted, since absolute brightness is a city fingerprint and series shape is not. Cleaning rejects saturated and contaminated readings at the observation slot, before any yearly average. Stage 1 is a class-balanced random forest of 300 trees. All evaluation uses spatially blocked splits excluding the entire 20×20 block of every labelled location, because neighbouring Landsat pixels are near-duplicates and scoring on them inflates results.</a:t>
            </a:r>
            <a:endParaRPr lang="en-US" sz="1150" dirty="0"/>
          </a:p>
        </p:txBody>
      </p:sp>
      <p:sp>
        <p:nvSpPr>
          <p:cNvPr id="9" name="Shape 7"/>
          <p:cNvSpPr/>
          <p:nvPr/>
        </p:nvSpPr>
        <p:spPr>
          <a:xfrm>
            <a:off x="4325112" y="1508760"/>
            <a:ext cx="3529584" cy="4572000"/>
          </a:xfrm>
          <a:prstGeom prst="roundRect">
            <a:avLst>
              <a:gd name="adj" fmla="val 1295"/>
            </a:avLst>
          </a:prstGeom>
          <a:solidFill>
            <a:srgbClr val="F7F0E7"/>
          </a:solidFill>
          <a:ln w="9525">
            <a:solidFill>
              <a:srgbClr val="F7F0E7"/>
            </a:solidFill>
            <a:prstDash val="solid"/>
          </a:ln>
        </p:spPr>
      </p:sp>
      <p:sp>
        <p:nvSpPr>
          <p:cNvPr id="10" name="Text 8"/>
          <p:cNvSpPr txBox="1"/>
          <p:nvPr/>
        </p:nvSpPr>
        <p:spPr>
          <a:xfrm>
            <a:off x="4617720" y="1719072"/>
            <a:ext cx="2971800" cy="274320"/>
          </a:xfrm>
          <a:prstGeom prst="rect">
            <a:avLst/>
          </a:prstGeom>
          <a:noFill/>
          <a:ln/>
        </p:spPr>
        <p:txBody>
          <a:bodyPr wrap="square" lIns="0" tIns="0" rIns="0" bIns="0" rtlCol="0" anchor="ctr"/>
          <a:lstStyle/>
          <a:p>
            <a:pPr marL="0" indent="0">
              <a:buNone/>
            </a:pPr>
            <a:r>
              <a:rPr lang="en-US" sz="1200" b="1" kern="0" spc="160" dirty="0">
                <a:solidFill>
                  <a:srgbClr val="7C4A21"/>
                </a:solidFill>
                <a:latin typeface="Times New Roman" pitchFamily="34" charset="0"/>
                <a:ea typeface="Times New Roman" pitchFamily="34" charset="-122"/>
                <a:cs typeface="Times New Roman" pitchFamily="34" charset="-120"/>
              </a:rPr>
              <a:t>TRANSFER STRATEGY</a:t>
            </a:r>
            <a:endParaRPr lang="en-US" sz="1200" dirty="0"/>
          </a:p>
        </p:txBody>
      </p:sp>
      <p:sp>
        <p:nvSpPr>
          <p:cNvPr id="11" name="Text 9"/>
          <p:cNvSpPr txBox="1"/>
          <p:nvPr/>
        </p:nvSpPr>
        <p:spPr>
          <a:xfrm>
            <a:off x="4617720" y="2103120"/>
            <a:ext cx="2971800" cy="3840480"/>
          </a:xfrm>
          <a:prstGeom prst="rect">
            <a:avLst/>
          </a:prstGeom>
          <a:noFill/>
          <a:ln/>
        </p:spPr>
        <p:txBody>
          <a:bodyPr wrap="square" lIns="0" tIns="0" rIns="0" bIns="0" rtlCol="0" anchor="t"/>
          <a:lstStyle/>
          <a:p>
            <a:pPr marL="0" indent="0">
              <a:lnSpc>
                <a:spcPts val="1600"/>
              </a:lnSpc>
              <a:buNone/>
            </a:pPr>
            <a:r>
              <a:rPr lang="en-US" sz="1150" dirty="0">
                <a:solidFill>
                  <a:srgbClr val="44443E"/>
                </a:solidFill>
                <a:latin typeface="Times New Roman" pitchFamily="34" charset="0"/>
                <a:ea typeface="Times New Roman" pitchFamily="34" charset="-122"/>
                <a:cs typeface="Times New Roman" pitchFamily="34" charset="-120"/>
              </a:rPr>
              <a:t>Two steps. First, standardise each city within its own distribution; this uses no labels and is worth +0.014 macro F1 on prototype transfer. Second, estimate Amsterdam class prototypes from the few labels and shrink them halfway toward Madrid’s. We import Madrid’s class locations but not its geometry: projecting through Madrid’s LDA directions scores 0.4627 and a Madrid-trained CNN embedding 0.4993, both worse than importing nothing.</a:t>
            </a:r>
            <a:endParaRPr lang="en-US" sz="1150" dirty="0"/>
          </a:p>
        </p:txBody>
      </p:sp>
      <p:sp>
        <p:nvSpPr>
          <p:cNvPr id="12" name="Shape 10"/>
          <p:cNvSpPr/>
          <p:nvPr/>
        </p:nvSpPr>
        <p:spPr>
          <a:xfrm>
            <a:off x="8101584" y="1508760"/>
            <a:ext cx="3529584" cy="4572000"/>
          </a:xfrm>
          <a:prstGeom prst="roundRect">
            <a:avLst>
              <a:gd name="adj" fmla="val 1295"/>
            </a:avLst>
          </a:prstGeom>
          <a:solidFill>
            <a:srgbClr val="EBF2EF"/>
          </a:solidFill>
          <a:ln w="9525">
            <a:solidFill>
              <a:srgbClr val="EBF2EF"/>
            </a:solidFill>
            <a:prstDash val="solid"/>
          </a:ln>
        </p:spPr>
      </p:sp>
      <p:sp>
        <p:nvSpPr>
          <p:cNvPr id="13" name="Text 11"/>
          <p:cNvSpPr txBox="1"/>
          <p:nvPr/>
        </p:nvSpPr>
        <p:spPr>
          <a:xfrm>
            <a:off x="8394192" y="1719072"/>
            <a:ext cx="2971800" cy="274320"/>
          </a:xfrm>
          <a:prstGeom prst="rect">
            <a:avLst/>
          </a:prstGeom>
          <a:noFill/>
          <a:ln/>
        </p:spPr>
        <p:txBody>
          <a:bodyPr wrap="square" lIns="0" tIns="0" rIns="0" bIns="0" rtlCol="0" anchor="ctr"/>
          <a:lstStyle/>
          <a:p>
            <a:pPr marL="0" indent="0">
              <a:buNone/>
            </a:pPr>
            <a:r>
              <a:rPr lang="en-US" sz="1200" b="1" kern="0" spc="160" dirty="0">
                <a:solidFill>
                  <a:srgbClr val="1F4E3D"/>
                </a:solidFill>
                <a:latin typeface="Times New Roman" pitchFamily="34" charset="0"/>
                <a:ea typeface="Times New Roman" pitchFamily="34" charset="-122"/>
                <a:cs typeface="Times New Roman" pitchFamily="34" charset="-120"/>
              </a:rPr>
              <a:t>INTERPRETATION</a:t>
            </a:r>
            <a:endParaRPr lang="en-US" sz="1200" dirty="0"/>
          </a:p>
        </p:txBody>
      </p:sp>
      <p:sp>
        <p:nvSpPr>
          <p:cNvPr id="14" name="Text 12"/>
          <p:cNvSpPr txBox="1"/>
          <p:nvPr/>
        </p:nvSpPr>
        <p:spPr>
          <a:xfrm>
            <a:off x="8394192" y="2103120"/>
            <a:ext cx="2971800" cy="3840480"/>
          </a:xfrm>
          <a:prstGeom prst="rect">
            <a:avLst/>
          </a:prstGeom>
          <a:noFill/>
          <a:ln/>
        </p:spPr>
        <p:txBody>
          <a:bodyPr wrap="square" lIns="0" tIns="0" rIns="0" bIns="0" rtlCol="0" anchor="t"/>
          <a:lstStyle/>
          <a:p>
            <a:pPr marL="0" indent="0">
              <a:lnSpc>
                <a:spcPts val="1600"/>
              </a:lnSpc>
              <a:buNone/>
            </a:pPr>
            <a:r>
              <a:rPr lang="en-US" sz="1150" dirty="0">
                <a:solidFill>
                  <a:srgbClr val="44443E"/>
                </a:solidFill>
                <a:latin typeface="Times New Roman" pitchFamily="34" charset="0"/>
                <a:ea typeface="Times New Roman" pitchFamily="34" charset="-122"/>
                <a:cs typeface="Times New Roman" pitchFamily="34" charset="-120"/>
              </a:rPr>
              <a:t>Madrid scores 0.5954 ± 0.0138. Amsterdam reaches 0.4882, 0.5605, 0.5651, 0.5714 and 0.5766 at 5, 25, 50, 100 and 200 labels per class, recovering 96.8% of the source score. The curve rises steeply to 25, then flattens: the first labels buy the city-specific offset, further labels buy little, so the residual gap is domain shift rather than label scarcity. Shrinkage helps most where the local estimate is noisiest (+0.045 at five labels) and still helps at 200 (+0.033). Against the baseline method under our stricter evaluation, we gain +0.039 mean macro F1 and win at every budget. Our few-shot figures are not comparable to the published baseline, which does not exclude spatial blocks; that difference is worth −0.075.</a:t>
            </a:r>
            <a:endParaRPr lang="en-US" sz="1150" dirty="0"/>
          </a:p>
        </p:txBody>
      </p:sp>
      <p:sp>
        <p:nvSpPr>
          <p:cNvPr id="15" name="Text 13"/>
          <p:cNvSpPr txBox="1"/>
          <p:nvPr/>
        </p:nvSpPr>
        <p:spPr>
          <a:xfrm>
            <a:off x="548640" y="6291072"/>
            <a:ext cx="11091672" cy="310896"/>
          </a:xfrm>
          <a:prstGeom prst="rect">
            <a:avLst/>
          </a:prstGeom>
          <a:noFill/>
          <a:ln/>
        </p:spPr>
        <p:txBody>
          <a:bodyPr wrap="square" lIns="0" tIns="0" rIns="0" bIns="0" rtlCol="0" anchor="ctr"/>
          <a:lstStyle/>
          <a:p>
            <a:pPr marL="0" indent="0">
              <a:buNone/>
            </a:pPr>
            <a:r>
              <a:rPr lang="en-US" sz="1100" i="1" dirty="0">
                <a:solidFill>
                  <a:srgbClr val="76766D"/>
                </a:solidFill>
                <a:latin typeface="Times New Roman" pitchFamily="34" charset="0"/>
                <a:ea typeface="Times New Roman" pitchFamily="34" charset="-122"/>
                <a:cs typeface="Times New Roman" pitchFamily="34" charset="-120"/>
              </a:rPr>
              <a:t>Carried in this file so a single upload holds every deliverable. Not presented aloud.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2085</Words>
  <Application>Microsoft Office PowerPoint</Application>
  <PresentationFormat>Widescreen</PresentationFormat>
  <Paragraphs>216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DSRH 2026 — Building age classification, Madrid to Amsterdam</dc:title>
  <dc:subject>PptxGenJS Presentation</dc:subject>
  <dc:creator>Group 4</dc:creator>
  <cp:lastModifiedBy>Linah Musyoka</cp:lastModifiedBy>
  <cp:revision>5</cp:revision>
  <dcterms:created xsi:type="dcterms:W3CDTF">2026-10-01T11:31:40Z</dcterms:created>
  <dcterms:modified xsi:type="dcterms:W3CDTF">2026-10-01T12:00:40Z</dcterms:modified>
</cp:coreProperties>
</file>